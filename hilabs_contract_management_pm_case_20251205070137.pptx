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88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i Mittal" userId="2dcd1227251c58d6" providerId="LiveId" clId="{7351F24B-E3FF-416C-A1DE-11DA906B11A1}"/>
    <pc:docChg chg="modSld">
      <pc:chgData name="Aditi Mittal" userId="2dcd1227251c58d6" providerId="LiveId" clId="{7351F24B-E3FF-416C-A1DE-11DA906B11A1}" dt="2025-12-05T16:10:46.288" v="2" actId="14100"/>
      <pc:docMkLst>
        <pc:docMk/>
      </pc:docMkLst>
      <pc:sldChg chg="modSp mod">
        <pc:chgData name="Aditi Mittal" userId="2dcd1227251c58d6" providerId="LiveId" clId="{7351F24B-E3FF-416C-A1DE-11DA906B11A1}" dt="2025-12-05T16:10:46.288" v="2" actId="14100"/>
        <pc:sldMkLst>
          <pc:docMk/>
          <pc:sldMk cId="0" sldId="258"/>
        </pc:sldMkLst>
        <pc:spChg chg="mod">
          <ac:chgData name="Aditi Mittal" userId="2dcd1227251c58d6" providerId="LiveId" clId="{7351F24B-E3FF-416C-A1DE-11DA906B11A1}" dt="2025-12-05T16:10:31.784" v="0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0:46.288" v="2" actId="14100"/>
          <ac:spMkLst>
            <pc:docMk/>
            <pc:sldMk cId="0" sldId="25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03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2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-1" y="0"/>
            <a:ext cx="12191695" cy="6881853"/>
          </a:xfrm>
          <a:prstGeom prst="rect">
            <a:avLst/>
          </a:prstGeom>
          <a:solidFill>
            <a:srgbClr val="072B31">
              <a:alpha val="8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761695" y="57150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0B8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890626" y="685800"/>
            <a:ext cx="200254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1442923"/>
            <a:ext cx="666598" cy="28346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543507" y="1314907"/>
            <a:ext cx="4353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MANAGEMENT CASE STUDY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5918" y="4946745"/>
            <a:ext cx="2599200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788233" y="5041364"/>
            <a:ext cx="171907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48446" y="4946745"/>
            <a:ext cx="2600554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3591763" y="5010732"/>
            <a:ext cx="256946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69254" y="4946745"/>
            <a:ext cx="2599200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3899" y="5066967"/>
            <a:ext cx="191110" cy="19111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33195" y="609905"/>
            <a:ext cx="13057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</a:t>
            </a:r>
            <a:endParaRPr lang="en-US" sz="2400" dirty="0"/>
          </a:p>
        </p:txBody>
      </p:sp>
      <p:sp>
        <p:nvSpPr>
          <p:cNvPr id="20" name="Text 12"/>
          <p:cNvSpPr txBox="1"/>
          <p:nvPr/>
        </p:nvSpPr>
        <p:spPr>
          <a:xfrm>
            <a:off x="2403958" y="609905"/>
            <a:ext cx="3145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1742846"/>
            <a:ext cx="72777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Contract</a:t>
            </a:r>
            <a:endParaRPr lang="en-US" sz="54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2497226"/>
            <a:ext cx="80110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 System</a:t>
            </a:r>
            <a:endParaRPr lang="en-US" sz="5400" dirty="0"/>
          </a:p>
        </p:txBody>
      </p:sp>
      <p:sp>
        <p:nvSpPr>
          <p:cNvPr id="23" name="Text 15"/>
          <p:cNvSpPr txBox="1"/>
          <p:nvPr/>
        </p:nvSpPr>
        <p:spPr>
          <a:xfrm>
            <a:off x="761694" y="3585361"/>
            <a:ext cx="7983359" cy="1234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dirty data into contract intelligence for faster, safer payer-provider agreements using advanced AI &amp; NLP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1014834" y="5032021"/>
            <a:ext cx="1217216" cy="226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2025</a:t>
            </a:r>
            <a:endParaRPr lang="en-US" sz="1400" b="1" dirty="0"/>
          </a:p>
        </p:txBody>
      </p:sp>
      <p:sp>
        <p:nvSpPr>
          <p:cNvPr id="25" name="Text 17"/>
          <p:cNvSpPr txBox="1"/>
          <p:nvPr/>
        </p:nvSpPr>
        <p:spPr>
          <a:xfrm>
            <a:off x="849121" y="5327481"/>
            <a:ext cx="1943775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 Cycle Recognition</a:t>
            </a:r>
            <a:endParaRPr lang="en-US" sz="1400" b="1" dirty="0"/>
          </a:p>
        </p:txBody>
      </p:sp>
      <p:sp>
        <p:nvSpPr>
          <p:cNvPr id="26" name="Text 18"/>
          <p:cNvSpPr txBox="1"/>
          <p:nvPr/>
        </p:nvSpPr>
        <p:spPr>
          <a:xfrm>
            <a:off x="3988462" y="5037271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KLAS 2025</a:t>
            </a:r>
            <a:endParaRPr lang="en-US" sz="1400" b="1" dirty="0"/>
          </a:p>
        </p:txBody>
      </p:sp>
      <p:sp>
        <p:nvSpPr>
          <p:cNvPr id="27" name="Text 19"/>
          <p:cNvSpPr txBox="1"/>
          <p:nvPr/>
        </p:nvSpPr>
        <p:spPr>
          <a:xfrm>
            <a:off x="3848709" y="5355495"/>
            <a:ext cx="2134418" cy="20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of Light Awardee</a:t>
            </a:r>
            <a:endParaRPr lang="en-US" sz="1400" b="1" dirty="0"/>
          </a:p>
        </p:txBody>
      </p:sp>
      <p:sp>
        <p:nvSpPr>
          <p:cNvPr id="28" name="Text 20"/>
          <p:cNvSpPr txBox="1"/>
          <p:nvPr/>
        </p:nvSpPr>
        <p:spPr>
          <a:xfrm>
            <a:off x="6769654" y="5037271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$39M Series  B</a:t>
            </a:r>
            <a:endParaRPr lang="en-US" sz="1400" b="1" dirty="0"/>
          </a:p>
        </p:txBody>
      </p:sp>
      <p:sp>
        <p:nvSpPr>
          <p:cNvPr id="29" name="Text 21"/>
          <p:cNvSpPr txBox="1"/>
          <p:nvPr/>
        </p:nvSpPr>
        <p:spPr>
          <a:xfrm>
            <a:off x="6769654" y="5309026"/>
            <a:ext cx="1361972" cy="20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Funding</a:t>
            </a:r>
            <a:endParaRPr lang="en-US" sz="1400" b="1" dirty="0"/>
          </a:p>
        </p:txBody>
      </p:sp>
      <p:sp>
        <p:nvSpPr>
          <p:cNvPr id="30" name="Text 22"/>
          <p:cNvSpPr txBox="1"/>
          <p:nvPr/>
        </p:nvSpPr>
        <p:spPr>
          <a:xfrm>
            <a:off x="854964" y="6117137"/>
            <a:ext cx="1377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Aditi Mittal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854964" y="6533109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PGP | ISB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863750" y="6370803"/>
            <a:ext cx="12124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PGID: 62510304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29097" y="3346702"/>
            <a:ext cx="4319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DATA. HIDDEN POTENTIAL. UNLOCKED.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675360" y="1457096"/>
            <a:ext cx="2384904" cy="3148777"/>
          </a:xfrm>
          <a:prstGeom prst="roundRect">
            <a:avLst>
              <a:gd name="adj" fmla="val 149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7" name="Text 29"/>
          <p:cNvSpPr txBox="1"/>
          <p:nvPr/>
        </p:nvSpPr>
        <p:spPr>
          <a:xfrm>
            <a:off x="8734349" y="1568712"/>
            <a:ext cx="2533802" cy="48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Weeks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8748521" y="2079082"/>
            <a:ext cx="20601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negotiation cycle time (reduced from 3-6 months)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8735263" y="2619300"/>
            <a:ext cx="1314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3000" dirty="0"/>
          </a:p>
        </p:txBody>
      </p:sp>
      <p:sp>
        <p:nvSpPr>
          <p:cNvPr id="40" name="Text 32"/>
          <p:cNvSpPr txBox="1"/>
          <p:nvPr/>
        </p:nvSpPr>
        <p:spPr>
          <a:xfrm>
            <a:off x="8748521" y="3157422"/>
            <a:ext cx="26032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data accuracy with MCheck integration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8778238" y="3647523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745054" y="4099135"/>
            <a:ext cx="26316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leakage risk with automated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671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1051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362102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835853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 of Fragmentation &amp; "Dirty Data"</a:t>
            </a:r>
            <a:endParaRPr lang="en-US" sz="3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0525658" y="1339596"/>
            <a:ext cx="200254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20095" y="1325880"/>
            <a:ext cx="9573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2097634"/>
            <a:ext cx="2000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Pain Points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7536" y="2480309"/>
            <a:ext cx="5218466" cy="1436980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" y="2735885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E0F2F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528" r="-1528"/>
          <a:stretch/>
        </p:blipFill>
        <p:spPr>
          <a:xfrm>
            <a:off x="976579" y="2878531"/>
            <a:ext cx="161849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95044" y="2764231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Contracting Overhead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62125" y="3058962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rely on static spreadsheets and fragmented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emails. $20-23B annual admin cost with negotiation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cycles dragging on for 3-6 months.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648145" y="2480309"/>
            <a:ext cx="4446589" cy="1436980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08146" y="2745028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EF2F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600" b="-600"/>
          <a:stretch/>
        </p:blipFill>
        <p:spPr>
          <a:xfrm>
            <a:off x="7065424" y="2844196"/>
            <a:ext cx="181051" cy="209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27134" y="2729896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"Dirty Data" Crisis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529169" y="3038546"/>
            <a:ext cx="48298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 of provider directory data is incorrect. This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downstream claim errors, audit failures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(&gt;95% for MA plans), and provider abrasion.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77537" y="4272122"/>
            <a:ext cx="5218466" cy="1411788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9244" y="4491899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FFBE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923544" y="4640032"/>
            <a:ext cx="267005" cy="2093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95044" y="451110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Asymmetry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462125" y="484943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 often have better market data than payers.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Contracting managers lack real-time benchmarking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during negotiations.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648145" y="4197135"/>
            <a:ext cx="4446589" cy="1486776"/>
          </a:xfrm>
          <a:prstGeom prst="roundRect">
            <a:avLst>
              <a:gd name="adj" fmla="val 258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79119" y="4419481"/>
            <a:ext cx="177585" cy="1767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0510" y="4375281"/>
            <a:ext cx="2196389" cy="26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Imperatives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0100" y="8377733"/>
            <a:ext cx="2676449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786369" y="4787504"/>
            <a:ext cx="2393899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 in Coverage (TiC)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789481" y="5017620"/>
            <a:ext cx="2436876" cy="52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Mandates public pricing disclosure, demanding accurate, machine-readable data.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666744" y="8377733"/>
            <a:ext cx="2676449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98949" y="4798727"/>
            <a:ext cx="1793138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Surprises Act (NSA)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139013" y="5006315"/>
            <a:ext cx="2159813" cy="52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accurate directories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advanced cost estimates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protect members.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305" y="6373701"/>
            <a:ext cx="12191695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9"/>
          <p:cNvSpPr/>
          <p:nvPr/>
        </p:nvSpPr>
        <p:spPr>
          <a:xfrm>
            <a:off x="-103672" y="6373701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348386" y="6522381"/>
            <a:ext cx="47987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McKinsey Administrative Simplification Report; CMS Audit Reports 2024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522354" y="6522381"/>
            <a:ext cx="255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1154887"/>
            <a:ext cx="12191695" cy="4779569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571500" y="1483157"/>
            <a:ext cx="219456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6054" y="1459382"/>
            <a:ext cx="355244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Stakeholders &amp; Pain Points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1500" y="194492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1754" y="2640787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71754" y="21451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0F2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852221" y="2249424"/>
            <a:ext cx="21945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6444" y="2240280"/>
            <a:ext cx="2117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Contract Manager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2764231"/>
            <a:ext cx="95098" cy="950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2746" y="2773375"/>
            <a:ext cx="22238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real-time benchmarks vs. providers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193085"/>
            <a:ext cx="95098" cy="950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2746" y="3202229"/>
            <a:ext cx="22933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spent manually gathering data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743554" y="194492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943807" y="2640787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2"/>
          <p:cNvSpPr/>
          <p:nvPr/>
        </p:nvSpPr>
        <p:spPr>
          <a:xfrm>
            <a:off x="3943807" y="21451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0FDF4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48049" y="2249424"/>
            <a:ext cx="171907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438498" y="2240280"/>
            <a:ext cx="1793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Provider Relations Rep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2764231"/>
            <a:ext cx="95098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114800" y="2773375"/>
            <a:ext cx="2331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Overwhelmed by volume (email/PDFs)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3007462"/>
            <a:ext cx="95098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114800" y="3016606"/>
            <a:ext cx="2331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abrasion from directory errors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71500" y="378835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771754" y="4483303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18"/>
          <p:cNvSpPr/>
          <p:nvPr/>
        </p:nvSpPr>
        <p:spPr>
          <a:xfrm>
            <a:off x="771754" y="3987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4092854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66444" y="4083710"/>
            <a:ext cx="15745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&amp; Compliance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4607662"/>
            <a:ext cx="95098" cy="9509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2746" y="4616806"/>
            <a:ext cx="2360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missing deviations in long docs</a:t>
            </a:r>
            <a:endParaRPr lang="en-US" sz="11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4849978"/>
            <a:ext cx="95098" cy="9509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42746" y="4860036"/>
            <a:ext cx="244876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audits for TiC/NSA compliance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3743554" y="378835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3943807" y="4483303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4"/>
          <p:cNvSpPr/>
          <p:nvPr/>
        </p:nvSpPr>
        <p:spPr>
          <a:xfrm>
            <a:off x="3943807" y="3987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7ED"/>
          </a:solidFill>
          <a:ln/>
        </p:spPr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4038905" y="4092854"/>
            <a:ext cx="190195" cy="171907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438498" y="4083710"/>
            <a:ext cx="13651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Analyst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4607662"/>
            <a:ext cx="95098" cy="95098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114800" y="4616806"/>
            <a:ext cx="21223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Excel models with stale data</a:t>
            </a:r>
            <a:endParaRPr lang="en-US" sz="11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4849978"/>
            <a:ext cx="95098" cy="95098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4114800" y="4860036"/>
            <a:ext cx="2280837" cy="3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simulate 'shadow claims' fast enough</a:t>
            </a:r>
            <a:endParaRPr lang="en-US" sz="1100" dirty="0"/>
          </a:p>
        </p:txBody>
      </p:sp>
      <p:sp>
        <p:nvSpPr>
          <p:cNvPr id="43" name="Shape 28"/>
          <p:cNvSpPr/>
          <p:nvPr/>
        </p:nvSpPr>
        <p:spPr>
          <a:xfrm>
            <a:off x="7144207" y="1655064"/>
            <a:ext cx="4476902" cy="2332634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7381951" y="1720901"/>
            <a:ext cx="152705" cy="171907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7629754" y="1697126"/>
            <a:ext cx="30623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Broken Contracting Lifecycle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7763256" y="2449678"/>
            <a:ext cx="3238805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31"/>
          <p:cNvSpPr/>
          <p:nvPr/>
        </p:nvSpPr>
        <p:spPr>
          <a:xfrm>
            <a:off x="7381951" y="3255264"/>
            <a:ext cx="4000500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32"/>
          <p:cNvSpPr txBox="1"/>
          <p:nvPr/>
        </p:nvSpPr>
        <p:spPr>
          <a:xfrm>
            <a:off x="7583119" y="3388766"/>
            <a:ext cx="36868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Reality: 3–6-month cycle time with multiple "swivel-chair" handoffs between Word, Excel, and Email.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7114489" y="4272992"/>
            <a:ext cx="450662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50" name="Text 34"/>
          <p:cNvSpPr txBox="1"/>
          <p:nvPr/>
        </p:nvSpPr>
        <p:spPr>
          <a:xfrm>
            <a:off x="7309832" y="4469130"/>
            <a:ext cx="1429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$1,000+</a:t>
            </a:r>
            <a:endParaRPr lang="en-US" sz="2400" dirty="0"/>
          </a:p>
        </p:txBody>
      </p:sp>
      <p:sp>
        <p:nvSpPr>
          <p:cNvPr id="51" name="Text 35"/>
          <p:cNvSpPr txBox="1"/>
          <p:nvPr/>
        </p:nvSpPr>
        <p:spPr>
          <a:xfrm>
            <a:off x="7314285" y="4961076"/>
            <a:ext cx="1559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Cost Per Contract</a:t>
            </a:r>
            <a:endParaRPr lang="en-US" sz="1100" dirty="0"/>
          </a:p>
        </p:txBody>
      </p:sp>
      <p:sp>
        <p:nvSpPr>
          <p:cNvPr id="52" name="Shape 36"/>
          <p:cNvSpPr/>
          <p:nvPr/>
        </p:nvSpPr>
        <p:spPr>
          <a:xfrm>
            <a:off x="8853221" y="5298034"/>
            <a:ext cx="9144" cy="4764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907185" y="4468673"/>
            <a:ext cx="1000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2400" dirty="0"/>
          </a:p>
        </p:txBody>
      </p:sp>
      <p:sp>
        <p:nvSpPr>
          <p:cNvPr id="54" name="Text 38"/>
          <p:cNvSpPr txBox="1"/>
          <p:nvPr/>
        </p:nvSpPr>
        <p:spPr>
          <a:xfrm>
            <a:off x="8821808" y="4932234"/>
            <a:ext cx="1724292" cy="21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Risk (Stop-Loss)</a:t>
            </a:r>
            <a:endParaRPr lang="en-US" sz="1100" dirty="0"/>
          </a:p>
        </p:txBody>
      </p:sp>
      <p:sp>
        <p:nvSpPr>
          <p:cNvPr id="55" name="Shape 39"/>
          <p:cNvSpPr/>
          <p:nvPr/>
        </p:nvSpPr>
        <p:spPr>
          <a:xfrm>
            <a:off x="10409530" y="5298034"/>
            <a:ext cx="9144" cy="4764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10419892" y="4483805"/>
            <a:ext cx="1000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Mo</a:t>
            </a:r>
            <a:endParaRPr lang="en-US" sz="2400" dirty="0"/>
          </a:p>
        </p:txBody>
      </p:sp>
      <p:sp>
        <p:nvSpPr>
          <p:cNvPr id="57" name="Text 41"/>
          <p:cNvSpPr txBox="1"/>
          <p:nvPr/>
        </p:nvSpPr>
        <p:spPr>
          <a:xfrm>
            <a:off x="10409530" y="4962669"/>
            <a:ext cx="1055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Cycle Time</a:t>
            </a:r>
            <a:endParaRPr lang="en-US" sz="1100" dirty="0"/>
          </a:p>
        </p:txBody>
      </p:sp>
      <p:sp>
        <p:nvSpPr>
          <p:cNvPr id="58" name="Shape 42"/>
          <p:cNvSpPr/>
          <p:nvPr/>
        </p:nvSpPr>
        <p:spPr>
          <a:xfrm>
            <a:off x="8299" y="5897601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43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44"/>
          <p:cNvSpPr txBox="1"/>
          <p:nvPr/>
        </p:nvSpPr>
        <p:spPr>
          <a:xfrm>
            <a:off x="571500" y="6553505"/>
            <a:ext cx="4772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internal workflow audit and industry benchmarks (HiLabs Research)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7629754" y="2221078"/>
            <a:ext cx="457200" cy="457200"/>
          </a:xfrm>
          <a:prstGeom prst="ellipse">
            <a:avLst/>
          </a:prstGeom>
          <a:solidFill>
            <a:srgbClr val="E0F2FE"/>
          </a:solidFill>
          <a:ln w="25400">
            <a:solidFill>
              <a:srgbClr val="0284C7"/>
            </a:solidFill>
            <a:prstDash val="solid"/>
          </a:ln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7772400" y="2373782"/>
            <a:ext cx="171907" cy="1527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7606894" y="2792578"/>
            <a:ext cx="66934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&amp;</a:t>
            </a:r>
            <a:endParaRPr lang="en-US" sz="1100" dirty="0"/>
          </a:p>
        </p:txBody>
      </p:sp>
      <p:sp>
        <p:nvSpPr>
          <p:cNvPr id="65" name="Text 48"/>
          <p:cNvSpPr txBox="1"/>
          <p:nvPr/>
        </p:nvSpPr>
        <p:spPr>
          <a:xfrm>
            <a:off x="7635240" y="2928823"/>
            <a:ext cx="526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100" dirty="0"/>
          </a:p>
        </p:txBody>
      </p:sp>
      <p:sp>
        <p:nvSpPr>
          <p:cNvPr id="66" name="Shape 49"/>
          <p:cNvSpPr/>
          <p:nvPr/>
        </p:nvSpPr>
        <p:spPr>
          <a:xfrm>
            <a:off x="8645652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8779154" y="2373782"/>
            <a:ext cx="190195" cy="152705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8579815" y="2792578"/>
            <a:ext cx="7900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</a:t>
            </a:r>
            <a:endParaRPr lang="en-US" sz="1100" dirty="0"/>
          </a:p>
        </p:txBody>
      </p:sp>
      <p:sp>
        <p:nvSpPr>
          <p:cNvPr id="69" name="Text 51"/>
          <p:cNvSpPr txBox="1"/>
          <p:nvPr/>
        </p:nvSpPr>
        <p:spPr>
          <a:xfrm>
            <a:off x="8518550" y="2928822"/>
            <a:ext cx="851308" cy="19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(Email/Phone)</a:t>
            </a:r>
            <a:endParaRPr lang="en-US" sz="1100" dirty="0"/>
          </a:p>
        </p:txBody>
      </p:sp>
      <p:sp>
        <p:nvSpPr>
          <p:cNvPr id="70" name="Shape 52"/>
          <p:cNvSpPr/>
          <p:nvPr/>
        </p:nvSpPr>
        <p:spPr>
          <a:xfrm>
            <a:off x="9661550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9832543" y="2373782"/>
            <a:ext cx="114300" cy="152705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9715500" y="2792578"/>
            <a:ext cx="4315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73" name="Text 54"/>
          <p:cNvSpPr txBox="1"/>
          <p:nvPr/>
        </p:nvSpPr>
        <p:spPr>
          <a:xfrm>
            <a:off x="9653321" y="2928823"/>
            <a:ext cx="657454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</a:t>
            </a:r>
            <a:endParaRPr lang="en-US" sz="1100" dirty="0"/>
          </a:p>
        </p:txBody>
      </p:sp>
      <p:sp>
        <p:nvSpPr>
          <p:cNvPr id="74" name="Shape 55"/>
          <p:cNvSpPr/>
          <p:nvPr/>
        </p:nvSpPr>
        <p:spPr>
          <a:xfrm>
            <a:off x="10677449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10839298" y="2373782"/>
            <a:ext cx="133502" cy="152705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10768889" y="2792578"/>
            <a:ext cx="355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100" dirty="0"/>
          </a:p>
        </p:txBody>
      </p:sp>
      <p:sp>
        <p:nvSpPr>
          <p:cNvPr id="77" name="Text 57"/>
          <p:cNvSpPr txBox="1"/>
          <p:nvPr/>
        </p:nvSpPr>
        <p:spPr>
          <a:xfrm>
            <a:off x="10724083" y="2928823"/>
            <a:ext cx="4507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100" dirty="0"/>
          </a:p>
        </p:txBody>
      </p:sp>
      <p:sp>
        <p:nvSpPr>
          <p:cNvPr id="78" name="Shape 58"/>
          <p:cNvSpPr/>
          <p:nvPr/>
        </p:nvSpPr>
        <p:spPr>
          <a:xfrm>
            <a:off x="8563356" y="2354580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9" name="Text 59"/>
          <p:cNvSpPr txBox="1"/>
          <p:nvPr/>
        </p:nvSpPr>
        <p:spPr>
          <a:xfrm>
            <a:off x="8630107" y="2392985"/>
            <a:ext cx="619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Info</a:t>
            </a:r>
            <a:endParaRPr lang="en-US" sz="800" dirty="0"/>
          </a:p>
        </p:txBody>
      </p:sp>
      <p:sp>
        <p:nvSpPr>
          <p:cNvPr id="80" name="Shape 60"/>
          <p:cNvSpPr/>
          <p:nvPr/>
        </p:nvSpPr>
        <p:spPr>
          <a:xfrm>
            <a:off x="9562795" y="2354580"/>
            <a:ext cx="685800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1" name="Text 61"/>
          <p:cNvSpPr txBox="1"/>
          <p:nvPr/>
        </p:nvSpPr>
        <p:spPr>
          <a:xfrm>
            <a:off x="9629546" y="2392985"/>
            <a:ext cx="629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Neg.</a:t>
            </a:r>
            <a:endParaRPr lang="en-US" sz="800" dirty="0"/>
          </a:p>
        </p:txBody>
      </p:sp>
      <p:sp>
        <p:nvSpPr>
          <p:cNvPr id="82" name="Shape 62"/>
          <p:cNvSpPr/>
          <p:nvPr/>
        </p:nvSpPr>
        <p:spPr>
          <a:xfrm>
            <a:off x="10563149" y="2354580"/>
            <a:ext cx="714146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3" name="Text 63"/>
          <p:cNvSpPr txBox="1"/>
          <p:nvPr/>
        </p:nvSpPr>
        <p:spPr>
          <a:xfrm>
            <a:off x="10629900" y="2392985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Model</a:t>
            </a:r>
            <a:endParaRPr lang="en-US" sz="800" dirty="0"/>
          </a:p>
        </p:txBody>
      </p:sp>
      <p:sp>
        <p:nvSpPr>
          <p:cNvPr id="84" name="Shape 64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hape 65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6" name="Image 18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87" name="Text 66"/>
          <p:cNvSpPr txBox="1"/>
          <p:nvPr/>
        </p:nvSpPr>
        <p:spPr>
          <a:xfrm>
            <a:off x="571500" y="295351"/>
            <a:ext cx="22622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 ANALYSIS</a:t>
            </a:r>
            <a:endParaRPr lang="en-US" sz="1000" dirty="0"/>
          </a:p>
        </p:txBody>
      </p:sp>
      <p:sp>
        <p:nvSpPr>
          <p:cNvPr id="88" name="Text 67"/>
          <p:cNvSpPr txBox="1"/>
          <p:nvPr/>
        </p:nvSpPr>
        <p:spPr>
          <a:xfrm>
            <a:off x="571500" y="533095"/>
            <a:ext cx="65059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Personas &amp; Workflow Friction</a:t>
            </a:r>
            <a:endParaRPr lang="en-US" sz="2700" dirty="0"/>
          </a:p>
        </p:txBody>
      </p:sp>
      <p:sp>
        <p:nvSpPr>
          <p:cNvPr id="89" name="Text 68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951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1154888"/>
            <a:ext cx="12191695" cy="543976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440180"/>
            <a:ext cx="11048695" cy="202722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37319" b="32531"/>
          <a:stretch>
            <a:fillRect/>
          </a:stretch>
        </p:blipFill>
        <p:spPr>
          <a:xfrm>
            <a:off x="746151" y="1600658"/>
            <a:ext cx="10649102" cy="17446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4176064"/>
            <a:ext cx="3534156" cy="2286683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4202582"/>
            <a:ext cx="3534156" cy="3840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284C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914400" y="4597603"/>
            <a:ext cx="152705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5705" y="4487875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 Benchmarking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95705" y="4735678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Intelligence Layer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5250485"/>
            <a:ext cx="105156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5221224"/>
            <a:ext cx="28172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 Data Ingestion: Process machine-readable files to benchmark vs. market rates.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5711342"/>
            <a:ext cx="105156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0354" y="5682996"/>
            <a:ext cx="28648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Scoring Algorithm: Evaluate benchmarks for reliability, recency, and relevance.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6172200"/>
            <a:ext cx="10515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0354" y="6143854"/>
            <a:ext cx="25319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Geo-Specific Norms: CBSA and Medicare reimbursement comparisons.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330598" y="4202582"/>
            <a:ext cx="3534156" cy="2286683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330598" y="4202582"/>
            <a:ext cx="3534156" cy="38405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2" name="Shape 15"/>
          <p:cNvSpPr/>
          <p:nvPr/>
        </p:nvSpPr>
        <p:spPr>
          <a:xfrm>
            <a:off x="4559198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6"/>
          <p:cNvSpPr/>
          <p:nvPr/>
        </p:nvSpPr>
        <p:spPr>
          <a:xfrm>
            <a:off x="4559198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B8D4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4654296" y="4597603"/>
            <a:ext cx="190195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054803" y="4487875"/>
            <a:ext cx="17766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Negotiation Assist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054803" y="4735678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Co-Pilot Workflow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5250485"/>
            <a:ext cx="105156" cy="1143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759452" y="5221224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 (NLP): Auto-detect deviations from standard playbooks.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5711342"/>
            <a:ext cx="105156" cy="1143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759452" y="5682996"/>
            <a:ext cx="29315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Trap Detector: Flag missing "lesser-of" clauses and stop-loss risks.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6172200"/>
            <a:ext cx="105156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759452" y="6143854"/>
            <a:ext cx="2731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RAG-Grounded Scripts: Generate negotiation talking points with audit trails.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8089697" y="4202582"/>
            <a:ext cx="3534156" cy="2275028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8089697" y="4202582"/>
            <a:ext cx="3534156" cy="3840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Shape 24"/>
          <p:cNvSpPr/>
          <p:nvPr/>
        </p:nvSpPr>
        <p:spPr>
          <a:xfrm>
            <a:off x="8318297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5"/>
          <p:cNvSpPr/>
          <p:nvPr/>
        </p:nvSpPr>
        <p:spPr>
          <a:xfrm>
            <a:off x="8318297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6366F1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8399678" y="4597603"/>
            <a:ext cx="219456" cy="17190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813902" y="4487875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Simulation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8813902" y="4735678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Modeling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5250485"/>
            <a:ext cx="105156" cy="1143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8518550" y="5221224"/>
            <a:ext cx="29315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Claims Pricing: Reprice historical claims with proposed terms.</a:t>
            </a:r>
            <a:endParaRPr lang="en-US" sz="9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5711342"/>
            <a:ext cx="105156" cy="1143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518550" y="5682996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Modeling: Real-time "what-if" analysis for MLR impact.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6172200"/>
            <a:ext cx="105156" cy="1143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518550" y="6143854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Impact: Project cost-per-member-per-month (PMPM) changes.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547984" y="3650722"/>
            <a:ext cx="11048695" cy="371684"/>
          </a:xfrm>
          <a:prstGeom prst="roundRect">
            <a:avLst>
              <a:gd name="adj" fmla="val 22840"/>
            </a:avLst>
          </a:prstGeom>
          <a:solidFill>
            <a:srgbClr val="0F172A"/>
          </a:solidFill>
          <a:ln/>
        </p:spPr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9400" y="3775559"/>
            <a:ext cx="133502" cy="133502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890626" y="3754411"/>
            <a:ext cx="1605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SERVICES</a:t>
            </a:r>
            <a:endParaRPr lang="en-US" sz="10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2519410" y="3763670"/>
            <a:ext cx="105156" cy="123444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2762403" y="3660799"/>
            <a:ext cx="76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</a:t>
            </a:r>
            <a:endParaRPr lang="en-US" sz="9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670165" y="3740810"/>
            <a:ext cx="123444" cy="123444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3904726" y="3667380"/>
            <a:ext cx="1131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Search</a:t>
            </a:r>
            <a:endParaRPr lang="en-US" sz="900" dirty="0"/>
          </a:p>
        </p:txBody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5054803" y="3749040"/>
            <a:ext cx="142646" cy="123444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5272430" y="3659985"/>
            <a:ext cx="798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&amp; Compliance</a:t>
            </a:r>
            <a:endParaRPr lang="en-US" sz="900" dirty="0"/>
          </a:p>
        </p:txBody>
      </p: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6326255" y="3749040"/>
            <a:ext cx="105156" cy="123444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6504275" y="3667262"/>
            <a:ext cx="960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MCheck™ Data Integration</a:t>
            </a:r>
            <a:endParaRPr lang="en-US" sz="900" dirty="0"/>
          </a:p>
        </p:txBody>
      </p:sp>
      <p:sp>
        <p:nvSpPr>
          <p:cNvPr id="57" name="Text 37"/>
          <p:cNvSpPr txBox="1"/>
          <p:nvPr/>
        </p:nvSpPr>
        <p:spPr>
          <a:xfrm>
            <a:off x="9245041" y="3759774"/>
            <a:ext cx="1441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HiLabs AI Core</a:t>
            </a:r>
            <a:endParaRPr lang="en-US" sz="800" dirty="0"/>
          </a:p>
        </p:txBody>
      </p:sp>
      <p:sp>
        <p:nvSpPr>
          <p:cNvPr id="59" name="Shape 39"/>
          <p:cNvSpPr/>
          <p:nvPr/>
        </p:nvSpPr>
        <p:spPr>
          <a:xfrm>
            <a:off x="-82058" y="6596270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40"/>
          <p:cNvSpPr txBox="1"/>
          <p:nvPr/>
        </p:nvSpPr>
        <p:spPr>
          <a:xfrm>
            <a:off x="614934" y="6661172"/>
            <a:ext cx="5591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are designed for seamless integration with existing CLM and Claims Systems (Facets, QNXT)</a:t>
            </a:r>
            <a:endParaRPr lang="en-US" sz="900" dirty="0"/>
          </a:p>
        </p:txBody>
      </p:sp>
      <p:sp>
        <p:nvSpPr>
          <p:cNvPr id="61" name="Text 41"/>
          <p:cNvSpPr txBox="1"/>
          <p:nvPr/>
        </p:nvSpPr>
        <p:spPr>
          <a:xfrm>
            <a:off x="11156595" y="6661172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63" name="Shape 4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571500" y="295351"/>
            <a:ext cx="2243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ARCHITECTURE</a:t>
            </a:r>
            <a:endParaRPr lang="en-US" sz="1000" dirty="0"/>
          </a:p>
        </p:txBody>
      </p:sp>
      <p:sp>
        <p:nvSpPr>
          <p:cNvPr id="66" name="Text 45"/>
          <p:cNvSpPr txBox="1"/>
          <p:nvPr/>
        </p:nvSpPr>
        <p:spPr>
          <a:xfrm>
            <a:off x="571500" y="533095"/>
            <a:ext cx="7477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AI-Native Contract Intelligence Platform</a:t>
            </a:r>
            <a:endParaRPr lang="en-US" sz="2700" dirty="0"/>
          </a:p>
        </p:txBody>
      </p:sp>
      <p:sp>
        <p:nvSpPr>
          <p:cNvPr id="67" name="Text 4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01" y="-254085"/>
            <a:ext cx="12191695" cy="6869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522476"/>
            <a:ext cx="4286707" cy="1081696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1754" y="164043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9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1773936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0744" y="1659636"/>
            <a:ext cx="2048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Healthcare-Specific NLP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80744" y="1935785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millions of provider contracts, manuals, and Medicaid agreements—not generic legal texts.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80744" y="2373782"/>
            <a:ext cx="12573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38351" y="2402129"/>
            <a:ext cx="1219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Understanding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5323" y="2822712"/>
            <a:ext cx="4332884" cy="1142802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5071" y="301111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DF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920304" y="3144621"/>
            <a:ext cx="219456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80744" y="2999808"/>
            <a:ext cx="1515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Architecture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3265840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ensures all AI outputs are grounded in source docs. Zero hallucinations.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91717" y="3714394"/>
            <a:ext cx="694944" cy="156024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438351" y="3729977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56512" y="4142790"/>
            <a:ext cx="4309050" cy="1168364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5071" y="433334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F2F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0304" y="4498391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91717" y="4294618"/>
            <a:ext cx="1828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 Scoring Algorithm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380744" y="4544452"/>
            <a:ext cx="27605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scoring for benchmarks based on Reliability, Recency, and Relevance weights.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359713" y="5013815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429545" y="5023812"/>
            <a:ext cx="648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56512" y="5406251"/>
            <a:ext cx="4286707" cy="1156398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1754" y="561310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7ED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29447" y="5746608"/>
            <a:ext cx="171907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91717" y="5609388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MCheck™ Integration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359713" y="5868142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integration with existing provider data foundation ensures accuracy across the lifecycle.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309580" y="6322997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361084" y="6333194"/>
            <a:ext cx="648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Data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5143500" y="1440180"/>
            <a:ext cx="6476695" cy="3333902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152644" y="1449324"/>
            <a:ext cx="6458407" cy="50474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381244" y="1612087"/>
            <a:ext cx="786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8382305" y="1612087"/>
            <a:ext cx="976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CLM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9977018" y="1612087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 AI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152644" y="2650846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5381244" y="2125980"/>
            <a:ext cx="1243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5381244" y="2335378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legal terms in contracts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382305" y="2240280"/>
            <a:ext cx="95098" cy="12344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53298" y="2219249"/>
            <a:ext cx="9601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 only</a:t>
            </a:r>
            <a:endParaRPr lang="en-US" sz="9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2240280"/>
            <a:ext cx="123444" cy="1234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0177272" y="2125980"/>
            <a:ext cx="76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&amp; Contextual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152644" y="3354934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5381244" y="2830982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Benchmarking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5381244" y="3040380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rates vs market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382305" y="2945282"/>
            <a:ext cx="105156" cy="12344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563356" y="2830982"/>
            <a:ext cx="9509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/ Manual Upload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2945282"/>
            <a:ext cx="123444" cy="1234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0177272" y="2923337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TiC Data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152644" y="4059936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5381244" y="3535985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Deviation Detection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5381244" y="374538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non-standard terms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382305" y="3650285"/>
            <a:ext cx="105156" cy="123444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8563356" y="3628339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</a:t>
            </a:r>
            <a:endParaRPr lang="en-US" sz="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3650285"/>
            <a:ext cx="123444" cy="12344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0177272" y="3628339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Playbook Match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5381244" y="4240987"/>
            <a:ext cx="1396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Simulation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5381244" y="4450385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impact on MLR</a:t>
            </a:r>
            <a:endParaRPr lang="en-US" sz="9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382305" y="4355287"/>
            <a:ext cx="95098" cy="123444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553298" y="4333342"/>
            <a:ext cx="8366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Excel</a:t>
            </a:r>
            <a:endParaRPr lang="en-US" sz="9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4355287"/>
            <a:ext cx="123444" cy="123444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10177272" y="4240987"/>
            <a:ext cx="1227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Shadow Pricing</a:t>
            </a:r>
            <a:endParaRPr lang="en-US" sz="900" dirty="0"/>
          </a:p>
        </p:txBody>
      </p:sp>
      <p:sp>
        <p:nvSpPr>
          <p:cNvPr id="65" name="Shape 51"/>
          <p:cNvSpPr/>
          <p:nvPr/>
        </p:nvSpPr>
        <p:spPr>
          <a:xfrm>
            <a:off x="5152644" y="4983480"/>
            <a:ext cx="6560820" cy="571501"/>
          </a:xfrm>
          <a:prstGeom prst="roundRect">
            <a:avLst>
              <a:gd name="adj" fmla="val 13910"/>
            </a:avLst>
          </a:prstGeom>
          <a:solidFill>
            <a:srgbClr val="00B8D4"/>
          </a:solidFill>
          <a:ln/>
        </p:spPr>
      </p:sp>
      <p:sp>
        <p:nvSpPr>
          <p:cNvPr id="66" name="Text 52"/>
          <p:cNvSpPr txBox="1"/>
          <p:nvPr/>
        </p:nvSpPr>
        <p:spPr>
          <a:xfrm>
            <a:off x="5346855" y="5065975"/>
            <a:ext cx="2510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"Defensible" Outcome</a:t>
            </a:r>
            <a:endParaRPr lang="en-US" sz="1300" dirty="0"/>
          </a:p>
        </p:txBody>
      </p:sp>
      <p:sp>
        <p:nvSpPr>
          <p:cNvPr id="67" name="Text 53"/>
          <p:cNvSpPr txBox="1"/>
          <p:nvPr/>
        </p:nvSpPr>
        <p:spPr>
          <a:xfrm>
            <a:off x="5336320" y="5293918"/>
            <a:ext cx="3427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precision, faster throughput, and total auditability.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9382340" y="5075516"/>
            <a:ext cx="781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800" dirty="0"/>
          </a:p>
        </p:txBody>
      </p:sp>
      <p:sp>
        <p:nvSpPr>
          <p:cNvPr id="69" name="Text 55"/>
          <p:cNvSpPr txBox="1"/>
          <p:nvPr/>
        </p:nvSpPr>
        <p:spPr>
          <a:xfrm>
            <a:off x="9398501" y="5320298"/>
            <a:ext cx="688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TRACEABLE</a:t>
            </a:r>
            <a:endParaRPr lang="en-US" sz="800" dirty="0"/>
          </a:p>
        </p:txBody>
      </p:sp>
      <p:sp>
        <p:nvSpPr>
          <p:cNvPr id="70" name="Text 56"/>
          <p:cNvSpPr txBox="1"/>
          <p:nvPr/>
        </p:nvSpPr>
        <p:spPr>
          <a:xfrm>
            <a:off x="10645445" y="5080962"/>
            <a:ext cx="553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10x</a:t>
            </a:r>
            <a:endParaRPr lang="en-US" sz="1800" dirty="0"/>
          </a:p>
        </p:txBody>
      </p:sp>
      <p:sp>
        <p:nvSpPr>
          <p:cNvPr id="71" name="Text 57"/>
          <p:cNvSpPr txBox="1"/>
          <p:nvPr/>
        </p:nvSpPr>
        <p:spPr>
          <a:xfrm>
            <a:off x="10462812" y="5352579"/>
            <a:ext cx="8979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REVIEW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0" y="755568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60"/>
          <p:cNvSpPr txBox="1"/>
          <p:nvPr/>
        </p:nvSpPr>
        <p:spPr>
          <a:xfrm>
            <a:off x="556512" y="6673627"/>
            <a:ext cx="5106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 based on proprietary technology stack and deep healthcare domain expertise.</a:t>
            </a:r>
            <a:endParaRPr lang="en-US" sz="900" dirty="0"/>
          </a:p>
        </p:txBody>
      </p:sp>
      <p:sp>
        <p:nvSpPr>
          <p:cNvPr id="75" name="Text 61"/>
          <p:cNvSpPr txBox="1"/>
          <p:nvPr/>
        </p:nvSpPr>
        <p:spPr>
          <a:xfrm>
            <a:off x="11331702" y="6657407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571500" y="295351"/>
            <a:ext cx="22622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80" name="Text 65"/>
          <p:cNvSpPr txBox="1"/>
          <p:nvPr/>
        </p:nvSpPr>
        <p:spPr>
          <a:xfrm>
            <a:off x="571500" y="533095"/>
            <a:ext cx="72109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HiLabs Wins: Tech Differentiation</a:t>
            </a:r>
            <a:endParaRPr lang="en-US" sz="2700" dirty="0"/>
          </a:p>
        </p:txBody>
      </p:sp>
      <p:sp>
        <p:nvSpPr>
          <p:cNvPr id="81" name="Text 6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51F1A018-489B-CD34-04D1-DB35E5D7BB12}"/>
              </a:ext>
            </a:extLst>
          </p:cNvPr>
          <p:cNvSpPr/>
          <p:nvPr/>
        </p:nvSpPr>
        <p:spPr>
          <a:xfrm>
            <a:off x="-92812" y="664386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54887"/>
            <a:ext cx="12191695" cy="52385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821485"/>
            <a:ext cx="1104869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821485"/>
            <a:ext cx="7295998" cy="38405"/>
          </a:xfrm>
          <a:prstGeom prst="roundRect">
            <a:avLst>
              <a:gd name="adj" fmla="val 1190470"/>
            </a:avLst>
          </a:prstGeom>
          <a:solidFill>
            <a:srgbClr val="00B8D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5031943"/>
            <a:ext cx="110486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851" y="5325466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4654" y="5306263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Buyers (ICP)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37053" y="5232197"/>
            <a:ext cx="2009851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3089758" y="5339182"/>
            <a:ext cx="105156" cy="1234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70809" y="5318150"/>
            <a:ext cx="1617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Network Management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52060" y="5232197"/>
            <a:ext cx="1143000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524" b="-524"/>
          <a:stretch/>
        </p:blipFill>
        <p:spPr>
          <a:xfrm>
            <a:off x="5204765" y="5339182"/>
            <a:ext cx="152705" cy="1234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33365" y="5318150"/>
            <a:ext cx="703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CDO / CIO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306617" y="5232197"/>
            <a:ext cx="2076602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6459322" y="5339182"/>
            <a:ext cx="142646" cy="1234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7863" y="5318150"/>
            <a:ext cx="1645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Payment Integrity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8491118" y="5232197"/>
            <a:ext cx="1514246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524" b="-524"/>
          <a:stretch/>
        </p:blipFill>
        <p:spPr>
          <a:xfrm>
            <a:off x="8643823" y="5339182"/>
            <a:ext cx="152705" cy="1234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872423" y="5318150"/>
            <a:ext cx="10744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Counsel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571500" y="6553505"/>
            <a:ext cx="4629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approach minimizes operational disruption while accelerating time-to-value.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1500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l="-1648" r="-1648"/>
          <a:stretch/>
        </p:blipFill>
        <p:spPr>
          <a:xfrm>
            <a:off x="3692347" y="1992478"/>
            <a:ext cx="171907" cy="19019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09244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09244" y="200253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" y="2221078"/>
            <a:ext cx="16431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2735885"/>
            <a:ext cx="95098" cy="9509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81151" y="2715212"/>
            <a:ext cx="2702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&amp; digitize historical provider contracts</a:t>
            </a:r>
            <a:endParaRPr lang="en-US" sz="11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2985516"/>
            <a:ext cx="95098" cy="9509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81151" y="2964843"/>
            <a:ext cx="24368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NLP extractors on client templates</a:t>
            </a:r>
            <a:endParaRPr lang="en-US" sz="11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3235147"/>
            <a:ext cx="95098" cy="9509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81151" y="3214474"/>
            <a:ext cx="2198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MCheck™ API connections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809244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933602" y="3808476"/>
            <a:ext cx="10222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8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3602" y="4027018"/>
            <a:ext cx="133502" cy="13350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123798" y="4013302"/>
            <a:ext cx="2567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Repo &amp; Baseline Accuracy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4330598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/>
          <a:stretch/>
        </p:blipFill>
        <p:spPr>
          <a:xfrm>
            <a:off x="7384694" y="1992478"/>
            <a:ext cx="237744" cy="19019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4568342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4568342" y="200253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4-6</a:t>
            </a:r>
            <a:endParaRPr lang="en-US" sz="900" dirty="0"/>
          </a:p>
        </p:txBody>
      </p:sp>
      <p:sp>
        <p:nvSpPr>
          <p:cNvPr id="45" name="Text 32"/>
          <p:cNvSpPr txBox="1"/>
          <p:nvPr/>
        </p:nvSpPr>
        <p:spPr>
          <a:xfrm>
            <a:off x="4568342" y="2221078"/>
            <a:ext cx="14621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"Co-Pilot"</a:t>
            </a:r>
            <a:endParaRPr lang="en-US" sz="13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2735885"/>
            <a:ext cx="95098" cy="950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4740250" y="2705273"/>
            <a:ext cx="2541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workflow to core negotiation team</a:t>
            </a:r>
            <a:endParaRPr lang="en-US" sz="11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2985516"/>
            <a:ext cx="95098" cy="9509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4740250" y="2954904"/>
            <a:ext cx="2284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deviation detection accuracy</a:t>
            </a:r>
            <a:endParaRPr lang="en-US" sz="11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3235147"/>
            <a:ext cx="95098" cy="95098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4740250" y="3204535"/>
            <a:ext cx="25219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feedback loop for UX refinement</a:t>
            </a:r>
            <a:endParaRPr lang="en-US" sz="1100" dirty="0"/>
          </a:p>
        </p:txBody>
      </p:sp>
      <p:sp>
        <p:nvSpPr>
          <p:cNvPr id="52" name="Shape 36"/>
          <p:cNvSpPr/>
          <p:nvPr/>
        </p:nvSpPr>
        <p:spPr>
          <a:xfrm>
            <a:off x="4568342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4692701" y="3808476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</a:t>
            </a:r>
            <a:endParaRPr lang="en-US" sz="8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2701" y="4027018"/>
            <a:ext cx="133502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4882896" y="4013302"/>
            <a:ext cx="2367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&gt;70% User Adoption in Pilot Group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8089697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rcRect/>
          <a:stretch/>
        </p:blipFill>
        <p:spPr>
          <a:xfrm>
            <a:off x="11191342" y="1992478"/>
            <a:ext cx="190195" cy="190195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8328355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41"/>
          <p:cNvSpPr txBox="1"/>
          <p:nvPr/>
        </p:nvSpPr>
        <p:spPr>
          <a:xfrm>
            <a:off x="8328355" y="2002536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7-12</a:t>
            </a:r>
            <a:endParaRPr lang="en-US" sz="900" dirty="0"/>
          </a:p>
        </p:txBody>
      </p:sp>
      <p:sp>
        <p:nvSpPr>
          <p:cNvPr id="60" name="Text 42"/>
          <p:cNvSpPr txBox="1"/>
          <p:nvPr/>
        </p:nvSpPr>
        <p:spPr>
          <a:xfrm>
            <a:off x="8328355" y="2221078"/>
            <a:ext cx="20052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Integration</a:t>
            </a:r>
            <a:endParaRPr lang="en-US" sz="1300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2735885"/>
            <a:ext cx="95098" cy="95098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8499348" y="2715212"/>
            <a:ext cx="29224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claims warehouse for "shadow pricing”</a:t>
            </a:r>
            <a:endParaRPr lang="en-US" sz="1100" dirty="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2985516"/>
            <a:ext cx="95098" cy="95098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8499348" y="2964843"/>
            <a:ext cx="21890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enterprise-wide deployment</a:t>
            </a:r>
            <a:endParaRPr lang="en-US" sz="1100" dirty="0"/>
          </a:p>
        </p:txBody>
      </p:sp>
      <p:pic>
        <p:nvPicPr>
          <p:cNvPr id="65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3235147"/>
            <a:ext cx="95098" cy="95098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8499348" y="3214474"/>
            <a:ext cx="24551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MLR impact &amp; NSA compliance</a:t>
            </a:r>
            <a:endParaRPr lang="en-US" sz="1100" dirty="0"/>
          </a:p>
        </p:txBody>
      </p:sp>
      <p:sp>
        <p:nvSpPr>
          <p:cNvPr id="67" name="Shape 46"/>
          <p:cNvSpPr/>
          <p:nvPr/>
        </p:nvSpPr>
        <p:spPr>
          <a:xfrm>
            <a:off x="8328355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47"/>
          <p:cNvSpPr txBox="1"/>
          <p:nvPr/>
        </p:nvSpPr>
        <p:spPr>
          <a:xfrm>
            <a:off x="8451799" y="3808476"/>
            <a:ext cx="10698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</a:t>
            </a:r>
            <a:endParaRPr lang="en-US" sz="8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16"/>
          <a:srcRect l="-837" r="-837"/>
          <a:stretch/>
        </p:blipFill>
        <p:spPr>
          <a:xfrm>
            <a:off x="8451799" y="4027018"/>
            <a:ext cx="152705" cy="133502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8661197" y="4013302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 Compliance &amp; ROI</a:t>
            </a:r>
            <a:endParaRPr lang="en-US" sz="1000" dirty="0"/>
          </a:p>
        </p:txBody>
      </p:sp>
      <p:sp>
        <p:nvSpPr>
          <p:cNvPr id="71" name="Shape 49"/>
          <p:cNvSpPr/>
          <p:nvPr/>
        </p:nvSpPr>
        <p:spPr>
          <a:xfrm>
            <a:off x="809244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</p:spPr>
      </p:sp>
      <p:sp>
        <p:nvSpPr>
          <p:cNvPr id="72" name="Shape 50"/>
          <p:cNvSpPr/>
          <p:nvPr/>
        </p:nvSpPr>
        <p:spPr>
          <a:xfrm>
            <a:off x="4568342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</p:spPr>
      </p:sp>
      <p:sp>
        <p:nvSpPr>
          <p:cNvPr id="73" name="Shape 51"/>
          <p:cNvSpPr/>
          <p:nvPr/>
        </p:nvSpPr>
        <p:spPr>
          <a:xfrm>
            <a:off x="8328355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74" name="Shape 52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5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17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571500" y="295351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78" name="Text 55"/>
          <p:cNvSpPr txBox="1"/>
          <p:nvPr/>
        </p:nvSpPr>
        <p:spPr>
          <a:xfrm>
            <a:off x="571500" y="533095"/>
            <a:ext cx="6734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 &amp; Rollout</a:t>
            </a:r>
            <a:endParaRPr lang="en-US" sz="2700" dirty="0"/>
          </a:p>
        </p:txBody>
      </p:sp>
      <p:sp>
        <p:nvSpPr>
          <p:cNvPr id="79" name="Text 5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11B5408A-325E-C942-F800-62AC5FC266FD}"/>
              </a:ext>
            </a:extLst>
          </p:cNvPr>
          <p:cNvSpPr/>
          <p:nvPr/>
        </p:nvSpPr>
        <p:spPr>
          <a:xfrm>
            <a:off x="-103672" y="654161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E9B9997-2BF1-C9B7-AF19-3CFD6B355B2F}"/>
              </a:ext>
            </a:extLst>
          </p:cNvPr>
          <p:cNvSpPr/>
          <p:nvPr/>
        </p:nvSpPr>
        <p:spPr>
          <a:xfrm>
            <a:off x="571501" y="5704942"/>
            <a:ext cx="4753744" cy="7377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71500" y="1371990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754" y="1605162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0354" y="1572243"/>
            <a:ext cx="2273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CYCLE TIME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1754" y="201024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3-6 Months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1754" y="2277246"/>
            <a:ext cx="1024388" cy="15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675534" y="2117226"/>
            <a:ext cx="152705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4857" y="1953548"/>
            <a:ext cx="16861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Weeks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982212" y="2343997"/>
            <a:ext cx="135148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AI-Assisted Workflow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1500" y="2789438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022610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2989691"/>
            <a:ext cx="24939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COST PER CONTRACT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71753" y="3427689"/>
            <a:ext cx="1890979" cy="26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$500-$1,000+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71753" y="3732183"/>
            <a:ext cx="1024389" cy="95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CLM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3044952" y="3534674"/>
            <a:ext cx="152705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39742" y="3370082"/>
            <a:ext cx="1000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&lt;$100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4124857" y="3760531"/>
            <a:ext cx="119496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 Automated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71500" y="4217774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450946"/>
            <a:ext cx="133502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00353" y="4417113"/>
            <a:ext cx="23779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DATA ACCURACY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71754" y="4856025"/>
            <a:ext cx="1024388" cy="167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70-80%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71754" y="5154774"/>
            <a:ext cx="1183927" cy="6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Baseline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796235" y="4963010"/>
            <a:ext cx="152705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413809" y="4798418"/>
            <a:ext cx="9244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4141317" y="5188867"/>
            <a:ext cx="1183927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MCheck™ Verified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2034540" y="5842885"/>
            <a:ext cx="1828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NSA Compliance Risk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07762" y="6060903"/>
            <a:ext cx="4281221" cy="381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from manual, high-risk audits to 100% automated, audit-ready reporting.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715000" y="1371990"/>
            <a:ext cx="5905195" cy="3370478"/>
          </a:xfrm>
          <a:prstGeom prst="roundRect">
            <a:avLst>
              <a:gd name="adj" fmla="val 6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E79784D8-E511-68BC-AAB4-A7D66902835E}"/>
              </a:ext>
            </a:extLst>
          </p:cNvPr>
          <p:cNvSpPr/>
          <p:nvPr/>
        </p:nvSpPr>
        <p:spPr>
          <a:xfrm>
            <a:off x="-103672" y="654161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5952744" y="1628936"/>
            <a:ext cx="24432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Projected Annual Savings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952744" y="1915143"/>
            <a:ext cx="25886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2,000 contracts per year volume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9900209" y="1610648"/>
            <a:ext cx="1485900" cy="352044"/>
          </a:xfrm>
          <a:prstGeom prst="roundRect">
            <a:avLst>
              <a:gd name="adj" fmla="val 140400"/>
            </a:avLst>
          </a:prstGeom>
          <a:solidFill>
            <a:srgbClr val="ECFDF5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10052914" y="1719462"/>
            <a:ext cx="152705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81514" y="1705746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$1.8M Savings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5952744" y="2281818"/>
            <a:ext cx="5429707" cy="22860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715000" y="4922475"/>
            <a:ext cx="2857500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5715000" y="4922475"/>
            <a:ext cx="38405" cy="1352398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5943600" y="5122728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LEAKAGE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5943600" y="5336698"/>
            <a:ext cx="8001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2400" dirty="0"/>
          </a:p>
        </p:txBody>
      </p:sp>
      <p:sp>
        <p:nvSpPr>
          <p:cNvPr id="44" name="Text 34"/>
          <p:cNvSpPr txBox="1"/>
          <p:nvPr/>
        </p:nvSpPr>
        <p:spPr>
          <a:xfrm>
            <a:off x="5943600" y="5746349"/>
            <a:ext cx="23911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missed stop-loss clauses and financial traps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8762695" y="4922475"/>
            <a:ext cx="2857500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762695" y="4922475"/>
            <a:ext cx="38405" cy="135239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8991295" y="5122728"/>
            <a:ext cx="1645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SATISFACTION</a:t>
            </a:r>
            <a:endParaRPr lang="en-US" sz="9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DD09FF3F-6D3E-B6A5-5AC6-B72E5E131302}"/>
              </a:ext>
            </a:extLst>
          </p:cNvPr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8991295" y="5336698"/>
            <a:ext cx="1105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</a:t>
            </a:r>
            <a:endParaRPr lang="en-US" sz="2400" dirty="0"/>
          </a:p>
        </p:txBody>
      </p:sp>
      <p:sp>
        <p:nvSpPr>
          <p:cNvPr id="49" name="Text 39"/>
          <p:cNvSpPr txBox="1"/>
          <p:nvPr/>
        </p:nvSpPr>
        <p:spPr>
          <a:xfrm>
            <a:off x="8991295" y="5746349"/>
            <a:ext cx="2076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improvement due to faster payments and accurate data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571500" y="295351"/>
            <a:ext cx="20912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&amp; ROI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71500" y="533095"/>
            <a:ext cx="6801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Quantifiable Value &amp; Transformation</a:t>
            </a:r>
            <a:endParaRPr lang="en-US" sz="2700" dirty="0"/>
          </a:p>
        </p:txBody>
      </p:sp>
      <p:sp>
        <p:nvSpPr>
          <p:cNvPr id="59" name="Text 48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61695" y="1546816"/>
            <a:ext cx="1066830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432450"/>
            <a:ext cx="11048695" cy="1000354"/>
          </a:xfrm>
          <a:prstGeom prst="roundRect">
            <a:avLst>
              <a:gd name="adj" fmla="val 13929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7707" y="5689397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Transform Contract Management?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6023153"/>
            <a:ext cx="4700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HiLabs to deploy an AI-native, audit-ready intelligence layer.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7658" y="5717743"/>
            <a:ext cx="2190902" cy="428854"/>
          </a:xfrm>
          <a:prstGeom prst="roundRect">
            <a:avLst>
              <a:gd name="adj" fmla="val 37906"/>
            </a:avLst>
          </a:prstGeom>
          <a:solidFill>
            <a:srgbClr val="00B8D4"/>
          </a:solidFill>
          <a:ln/>
          <a:effectLst>
            <a:outerShdw blurRad="63500" dist="38100" dir="5400000" algn="bl" rotWithShape="0">
              <a:srgbClr val="00B8D4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76258" y="5865876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04858" y="5842102"/>
            <a:ext cx="1605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Pilot Program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6568119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1500" y="6586031"/>
            <a:ext cx="4905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subject to quarterly review based on customer feedback and market dynamics.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72062" y="6586031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1500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1754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0284C7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771754" y="2533973"/>
            <a:ext cx="114300" cy="133502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71754" y="2994831"/>
            <a:ext cx="114300" cy="13350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3455688"/>
            <a:ext cx="133502" cy="133502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71754" y="3916546"/>
            <a:ext cx="114300" cy="133502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771754" y="4378318"/>
            <a:ext cx="105156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330598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530852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00B8D4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4530852" y="2533973"/>
            <a:ext cx="105156" cy="13350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30852" y="2994831"/>
            <a:ext cx="133502" cy="133502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530852" y="3455688"/>
            <a:ext cx="171907" cy="13350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30852" y="3916546"/>
            <a:ext cx="133502" cy="13350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089697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8289950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6366F1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8289950" y="2533973"/>
            <a:ext cx="171907" cy="133502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89950" y="2994831"/>
            <a:ext cx="133502" cy="133502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289950" y="3916546"/>
            <a:ext cx="133502" cy="133502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981151" y="2514771"/>
            <a:ext cx="28748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Repository: Digitized contracts with metadata search.</a:t>
            </a:r>
            <a:endParaRPr lang="en-US" sz="1100" dirty="0"/>
          </a:p>
        </p:txBody>
      </p:sp>
      <p:sp>
        <p:nvSpPr>
          <p:cNvPr id="35" name="Text 20"/>
          <p:cNvSpPr txBox="1"/>
          <p:nvPr/>
        </p:nvSpPr>
        <p:spPr>
          <a:xfrm>
            <a:off x="981151" y="2975628"/>
            <a:ext cx="28273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Benchmarking V1: TiC data integration for key markets.</a:t>
            </a:r>
            <a:endParaRPr lang="en-US" sz="1100" dirty="0"/>
          </a:p>
        </p:txBody>
      </p:sp>
      <p:sp>
        <p:nvSpPr>
          <p:cNvPr id="36" name="Text 21"/>
          <p:cNvSpPr txBox="1"/>
          <p:nvPr/>
        </p:nvSpPr>
        <p:spPr>
          <a:xfrm>
            <a:off x="1000354" y="3436486"/>
            <a:ext cx="2769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Extraction: Detect non-standard terms (payment, term).</a:t>
            </a:r>
            <a:endParaRPr lang="en-US" sz="1100" dirty="0"/>
          </a:p>
        </p:txBody>
      </p:sp>
      <p:sp>
        <p:nvSpPr>
          <p:cNvPr id="37" name="Text 22"/>
          <p:cNvSpPr txBox="1"/>
          <p:nvPr/>
        </p:nvSpPr>
        <p:spPr>
          <a:xfrm>
            <a:off x="981151" y="3898258"/>
            <a:ext cx="25411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Alerts: Proactive notifications for expiring contracts.</a:t>
            </a:r>
            <a:endParaRPr lang="en-US" sz="1100" dirty="0"/>
          </a:p>
        </p:txBody>
      </p:sp>
      <p:sp>
        <p:nvSpPr>
          <p:cNvPr id="38" name="Text 23"/>
          <p:cNvSpPr txBox="1"/>
          <p:nvPr/>
        </p:nvSpPr>
        <p:spPr>
          <a:xfrm>
            <a:off x="972007" y="4359115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Add-In: Read-only contract insights within MS Word.</a:t>
            </a:r>
            <a:endParaRPr lang="en-US" sz="1100" dirty="0"/>
          </a:p>
        </p:txBody>
      </p:sp>
      <p:sp>
        <p:nvSpPr>
          <p:cNvPr id="39" name="Text 24"/>
          <p:cNvSpPr txBox="1"/>
          <p:nvPr/>
        </p:nvSpPr>
        <p:spPr>
          <a:xfrm>
            <a:off x="4731106" y="2514771"/>
            <a:ext cx="29416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Engine: Shadow claims pricing &amp; MLR impact modeling.</a:t>
            </a:r>
            <a:endParaRPr lang="en-US" sz="1100" dirty="0"/>
          </a:p>
        </p:txBody>
      </p:sp>
      <p:sp>
        <p:nvSpPr>
          <p:cNvPr id="40" name="Text 25"/>
          <p:cNvSpPr txBox="1"/>
          <p:nvPr/>
        </p:nvSpPr>
        <p:spPr>
          <a:xfrm>
            <a:off x="4759452" y="2975628"/>
            <a:ext cx="28556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Redlining: AI suggestions for clause remediation.</a:t>
            </a:r>
            <a:endParaRPr lang="en-US" sz="1100" dirty="0"/>
          </a:p>
        </p:txBody>
      </p:sp>
      <p:sp>
        <p:nvSpPr>
          <p:cNvPr id="41" name="Text 26"/>
          <p:cNvSpPr txBox="1"/>
          <p:nvPr/>
        </p:nvSpPr>
        <p:spPr>
          <a:xfrm>
            <a:off x="4796942" y="3436486"/>
            <a:ext cx="28172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Delegated Entity Monitor: Compliance tracking for downstream partners.</a:t>
            </a:r>
            <a:endParaRPr lang="en-US" sz="1100" dirty="0"/>
          </a:p>
        </p:txBody>
      </p:sp>
      <p:sp>
        <p:nvSpPr>
          <p:cNvPr id="42" name="Text 27"/>
          <p:cNvSpPr txBox="1"/>
          <p:nvPr/>
        </p:nvSpPr>
        <p:spPr>
          <a:xfrm>
            <a:off x="4759452" y="3898258"/>
            <a:ext cx="234086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Export: Push approved rates to adjudication systems.</a:t>
            </a:r>
            <a:endParaRPr lang="en-US" sz="1100" dirty="0"/>
          </a:p>
        </p:txBody>
      </p:sp>
      <p:sp>
        <p:nvSpPr>
          <p:cNvPr id="43" name="Text 28"/>
          <p:cNvSpPr txBox="1"/>
          <p:nvPr/>
        </p:nvSpPr>
        <p:spPr>
          <a:xfrm>
            <a:off x="8509406" y="2514771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AI: Autonomous negotiation for low-risk standard contracts.</a:t>
            </a:r>
            <a:endParaRPr lang="en-US" sz="1100" dirty="0"/>
          </a:p>
        </p:txBody>
      </p:sp>
      <p:sp>
        <p:nvSpPr>
          <p:cNvPr id="44" name="Text 29"/>
          <p:cNvSpPr txBox="1"/>
          <p:nvPr/>
        </p:nvSpPr>
        <p:spPr>
          <a:xfrm>
            <a:off x="8518550" y="2975628"/>
            <a:ext cx="26270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VBC Modeling: Complex incentive &amp; quality bonus simulations.</a:t>
            </a:r>
            <a:endParaRPr lang="en-US" sz="1100" dirty="0"/>
          </a:p>
        </p:txBody>
      </p:sp>
      <p:sp>
        <p:nvSpPr>
          <p:cNvPr id="45" name="Text 30"/>
          <p:cNvSpPr txBox="1"/>
          <p:nvPr/>
        </p:nvSpPr>
        <p:spPr>
          <a:xfrm>
            <a:off x="8518550" y="3425971"/>
            <a:ext cx="27221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Win-Rates: AI likelihood scores for proposed terms.</a:t>
            </a:r>
            <a:endParaRPr lang="en-US" sz="1100" dirty="0"/>
          </a:p>
        </p:txBody>
      </p:sp>
      <p:sp>
        <p:nvSpPr>
          <p:cNvPr id="46" name="Text 31"/>
          <p:cNvSpPr txBox="1"/>
          <p:nvPr/>
        </p:nvSpPr>
        <p:spPr>
          <a:xfrm>
            <a:off x="8518550" y="3898258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Bi-Directional Sync: Real-time updates between CLM and Core Admin.</a:t>
            </a:r>
            <a:endParaRPr lang="en-US" sz="1100" dirty="0"/>
          </a:p>
        </p:txBody>
      </p:sp>
      <p:sp>
        <p:nvSpPr>
          <p:cNvPr id="47" name="Shape 32"/>
          <p:cNvSpPr/>
          <p:nvPr/>
        </p:nvSpPr>
        <p:spPr>
          <a:xfrm>
            <a:off x="761695" y="1165511"/>
            <a:ext cx="1209751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48" name="Text 33"/>
          <p:cNvSpPr txBox="1"/>
          <p:nvPr/>
        </p:nvSpPr>
        <p:spPr>
          <a:xfrm>
            <a:off x="857707" y="1213060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- 6 MONTHS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761695" y="1655064"/>
            <a:ext cx="2166562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&amp; Assist</a:t>
            </a:r>
            <a:endParaRPr lang="en-US" sz="1600" dirty="0"/>
          </a:p>
        </p:txBody>
      </p:sp>
      <p:sp>
        <p:nvSpPr>
          <p:cNvPr id="50" name="Text 35"/>
          <p:cNvSpPr txBox="1"/>
          <p:nvPr/>
        </p:nvSpPr>
        <p:spPr>
          <a:xfrm>
            <a:off x="761695" y="1851311"/>
            <a:ext cx="19696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Fixing the data &amp; enabling users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4520794" y="1165511"/>
            <a:ext cx="1047902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52" name="Text 37"/>
          <p:cNvSpPr txBox="1"/>
          <p:nvPr/>
        </p:nvSpPr>
        <p:spPr>
          <a:xfrm>
            <a:off x="4616806" y="1213060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6 - 12 MONTHS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4520793" y="1655064"/>
            <a:ext cx="2037539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 &amp; Scale</a:t>
            </a:r>
            <a:endParaRPr lang="en-US" sz="1600" dirty="0"/>
          </a:p>
        </p:txBody>
      </p:sp>
      <p:sp>
        <p:nvSpPr>
          <p:cNvPr id="54" name="Text 39"/>
          <p:cNvSpPr txBox="1"/>
          <p:nvPr/>
        </p:nvSpPr>
        <p:spPr>
          <a:xfrm>
            <a:off x="4520794" y="1851311"/>
            <a:ext cx="15983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financial integration</a:t>
            </a:r>
            <a:endParaRPr lang="en-US" sz="1000" dirty="0"/>
          </a:p>
        </p:txBody>
      </p:sp>
      <p:sp>
        <p:nvSpPr>
          <p:cNvPr id="55" name="Shape 40"/>
          <p:cNvSpPr/>
          <p:nvPr/>
        </p:nvSpPr>
        <p:spPr>
          <a:xfrm>
            <a:off x="8280806" y="1165511"/>
            <a:ext cx="1114654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56" name="Text 41"/>
          <p:cNvSpPr txBox="1"/>
          <p:nvPr/>
        </p:nvSpPr>
        <p:spPr>
          <a:xfrm>
            <a:off x="8375904" y="1213060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12 - 24 MONTHS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8280805" y="1655064"/>
            <a:ext cx="1898193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 &amp; VBC</a:t>
            </a:r>
            <a:endParaRPr lang="en-US" sz="1600" dirty="0"/>
          </a:p>
        </p:txBody>
      </p:sp>
      <p:sp>
        <p:nvSpPr>
          <p:cNvPr id="58" name="Text 43"/>
          <p:cNvSpPr txBox="1"/>
          <p:nvPr/>
        </p:nvSpPr>
        <p:spPr>
          <a:xfrm>
            <a:off x="8280806" y="1851311"/>
            <a:ext cx="20171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contract operations</a:t>
            </a:r>
            <a:endParaRPr lang="en-US" sz="1000" dirty="0"/>
          </a:p>
        </p:txBody>
      </p:sp>
      <p:sp>
        <p:nvSpPr>
          <p:cNvPr id="59" name="Shape 44"/>
          <p:cNvSpPr/>
          <p:nvPr/>
        </p:nvSpPr>
        <p:spPr>
          <a:xfrm>
            <a:off x="571500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4330598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8089697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8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10645445" y="626364"/>
            <a:ext cx="171907" cy="190195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571500" y="247802"/>
            <a:ext cx="1624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VISION</a:t>
            </a:r>
            <a:endParaRPr lang="en-US" sz="1000" dirty="0"/>
          </a:p>
        </p:txBody>
      </p:sp>
      <p:sp>
        <p:nvSpPr>
          <p:cNvPr id="66" name="Text 50"/>
          <p:cNvSpPr txBox="1"/>
          <p:nvPr/>
        </p:nvSpPr>
        <p:spPr>
          <a:xfrm>
            <a:off x="571500" y="466344"/>
            <a:ext cx="73490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Roadmap: The Path to Autonomy</a:t>
            </a:r>
            <a:endParaRPr lang="en-US" sz="2500" dirty="0"/>
          </a:p>
        </p:txBody>
      </p:sp>
      <p:sp>
        <p:nvSpPr>
          <p:cNvPr id="67" name="Text 51"/>
          <p:cNvSpPr txBox="1"/>
          <p:nvPr/>
        </p:nvSpPr>
        <p:spPr>
          <a:xfrm>
            <a:off x="10893247" y="608076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1175</Words>
  <Application>Microsoft Office PowerPoint</Application>
  <PresentationFormat>Widescreen</PresentationFormat>
  <Paragraphs>251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Aditi Mittal</cp:lastModifiedBy>
  <cp:revision>8</cp:revision>
  <dcterms:created xsi:type="dcterms:W3CDTF">2025-12-05T07:01:36Z</dcterms:created>
  <dcterms:modified xsi:type="dcterms:W3CDTF">2025-12-05T16:10:51Z</dcterms:modified>
</cp:coreProperties>
</file>