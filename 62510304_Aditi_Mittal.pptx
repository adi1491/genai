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73B034-19A1-41B5-8DD2-22DC8576E5C0}" v="6" dt="2025-11-26T19:56:34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493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11.png"/><Relationship Id="rId21" Type="http://schemas.openxmlformats.org/officeDocument/2006/relationships/image" Target="../media/image10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531267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 txBox="1"/>
          <p:nvPr/>
        </p:nvSpPr>
        <p:spPr>
          <a:xfrm>
            <a:off x="2811163" y="95554"/>
            <a:ext cx="472623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000" b="1" dirty="0">
                <a:solidFill>
                  <a:srgbClr val="00B0F0"/>
                </a:solidFill>
              </a:rPr>
              <a:t> Problem Statement &amp; Strategic Context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3829" y="66751"/>
            <a:ext cx="2520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678924" y="85954"/>
            <a:ext cx="2157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1305" y="724205"/>
            <a:ext cx="6495898" cy="3409798"/>
          </a:xfrm>
          <a:prstGeom prst="roundRect">
            <a:avLst>
              <a:gd name="adj" fmla="val 5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9049" y="961949"/>
            <a:ext cx="381305" cy="381305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724205" y="1076249"/>
            <a:ext cx="171907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14654" y="1037844"/>
            <a:ext cx="2934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Context &amp; Opportunity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19049" y="1495044"/>
            <a:ext cx="2895905" cy="990295"/>
          </a:xfrm>
          <a:prstGeom prst="roundRect">
            <a:avLst>
              <a:gd name="adj" fmla="val 355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Shape 12"/>
          <p:cNvSpPr/>
          <p:nvPr/>
        </p:nvSpPr>
        <p:spPr>
          <a:xfrm>
            <a:off x="619049" y="1495044"/>
            <a:ext cx="38405" cy="990295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09244" y="1647749"/>
            <a:ext cx="1400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OTT MARKET GROWTH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809244" y="1848002"/>
            <a:ext cx="13533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₹17,496 Cr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2063801" y="1981505"/>
            <a:ext cx="105156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206446" y="1952244"/>
            <a:ext cx="968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2x by 2028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809244" y="2180844"/>
            <a:ext cx="18388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AVOD growing faster than SVOD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739896" y="1495044"/>
            <a:ext cx="2895905" cy="990295"/>
          </a:xfrm>
          <a:prstGeom prst="roundRect">
            <a:avLst>
              <a:gd name="adj" fmla="val 3551"/>
            </a:avLst>
          </a:prstGeom>
          <a:solidFill>
            <a:srgbClr val="F8F9FA"/>
          </a:solidFill>
          <a:ln/>
        </p:spPr>
      </p:sp>
      <p:sp>
        <p:nvSpPr>
          <p:cNvPr id="23" name="Shape 18"/>
          <p:cNvSpPr/>
          <p:nvPr/>
        </p:nvSpPr>
        <p:spPr>
          <a:xfrm>
            <a:off x="3739896" y="1495044"/>
            <a:ext cx="38405" cy="990295"/>
          </a:xfrm>
          <a:prstGeom prst="rect">
            <a:avLst/>
          </a:prstGeom>
          <a:solidFill>
            <a:srgbClr val="FFE500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3931006" y="1647749"/>
            <a:ext cx="13057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FLIPKART USER BASE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3931006" y="1848002"/>
            <a:ext cx="10104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400M+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4838090" y="1962302"/>
            <a:ext cx="11960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Registered Users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3931005" y="2142442"/>
            <a:ext cx="2012595" cy="143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scale, low daily engagement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57150" y="2638044"/>
            <a:ext cx="6019495" cy="1086307"/>
          </a:xfrm>
          <a:prstGeom prst="roundRect">
            <a:avLst>
              <a:gd name="adj" fmla="val 295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80898" y="2809951"/>
            <a:ext cx="16431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780898" y="3066898"/>
            <a:ext cx="1848002" cy="495605"/>
          </a:xfrm>
          <a:prstGeom prst="roundRect">
            <a:avLst>
              <a:gd name="adj" fmla="val 14192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1" name="Text 26"/>
          <p:cNvSpPr txBox="1"/>
          <p:nvPr/>
        </p:nvSpPr>
        <p:spPr>
          <a:xfrm>
            <a:off x="1299512" y="3093872"/>
            <a:ext cx="111557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MX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337767" y="3333902"/>
            <a:ext cx="819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~250M Users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2702966" y="3066898"/>
            <a:ext cx="1848002" cy="495605"/>
          </a:xfrm>
          <a:prstGeom prst="roundRect">
            <a:avLst>
              <a:gd name="adj" fmla="val 14192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4" name="Text 29"/>
          <p:cNvSpPr txBox="1"/>
          <p:nvPr/>
        </p:nvSpPr>
        <p:spPr>
          <a:xfrm>
            <a:off x="3110789" y="3162910"/>
            <a:ext cx="134599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 Shorts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3233318" y="3333902"/>
            <a:ext cx="876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Leader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4625035" y="3066898"/>
            <a:ext cx="1848002" cy="495605"/>
          </a:xfrm>
          <a:prstGeom prst="roundRect">
            <a:avLst>
              <a:gd name="adj" fmla="val 14192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7" name="Text 32"/>
          <p:cNvSpPr txBox="1"/>
          <p:nvPr/>
        </p:nvSpPr>
        <p:spPr>
          <a:xfrm>
            <a:off x="5201107" y="3152851"/>
            <a:ext cx="7955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JioCinema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5238598" y="3333902"/>
            <a:ext cx="705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 Scale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381305" y="4356202"/>
            <a:ext cx="6495898" cy="2730398"/>
          </a:xfrm>
          <a:prstGeom prst="roundRect">
            <a:avLst>
              <a:gd name="adj" fmla="val 59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619049" y="4594860"/>
            <a:ext cx="381305" cy="381305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3349" y="4709160"/>
            <a:ext cx="152705" cy="152705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1114654" y="4670755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Problems to Solve</a:t>
            </a:r>
            <a:endParaRPr lang="en-US" sz="1500" dirty="0"/>
          </a:p>
        </p:txBody>
      </p:sp>
      <p:sp>
        <p:nvSpPr>
          <p:cNvPr id="43" name="Text 37"/>
          <p:cNvSpPr txBox="1"/>
          <p:nvPr/>
        </p:nvSpPr>
        <p:spPr>
          <a:xfrm>
            <a:off x="619049" y="5127955"/>
            <a:ext cx="6134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Daily Engagement: 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DAU/MAU ~20–25%. Users visit primarily for transactions, limiting ad revenue potential.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619049" y="5699455"/>
            <a:ext cx="6134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Rising Acquisition Costs (CAC): 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for organic, low-cost retention levers beyond discounts.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619049" y="6270955"/>
            <a:ext cx="6134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Gen-Z Behavior Shift: 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shifting to short-form, creator-led content for discovery.</a:t>
            </a:r>
            <a:endParaRPr lang="en-US" sz="1200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rcRect/>
          <a:stretch/>
        </p:blipFill>
        <p:spPr>
          <a:xfrm>
            <a:off x="10744200" y="571500"/>
            <a:ext cx="1218895" cy="1218895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7403897" y="1295705"/>
            <a:ext cx="4181551" cy="914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7403897" y="972007"/>
            <a:ext cx="192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Strategic Objective</a:t>
            </a:r>
            <a:endParaRPr lang="en-US" sz="1500" dirty="0"/>
          </a:p>
        </p:txBody>
      </p:sp>
      <p:sp>
        <p:nvSpPr>
          <p:cNvPr id="49" name="Text 42"/>
          <p:cNvSpPr txBox="1"/>
          <p:nvPr/>
        </p:nvSpPr>
        <p:spPr>
          <a:xfrm>
            <a:off x="7403897" y="1495044"/>
            <a:ext cx="3862426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latin typeface="Inter" pitchFamily="34" charset="0"/>
                <a:ea typeface="Inter" pitchFamily="34" charset="-122"/>
                <a:cs typeface="Inter" pitchFamily="34" charset="-120"/>
              </a:rPr>
              <a:t>Build a commerce-led AVOD experience inside Flipkart that drives engagement, unlocks ad monetization, and fuels GMV.</a:t>
            </a:r>
            <a:endParaRPr lang="en-US" sz="1300" dirty="0"/>
          </a:p>
        </p:txBody>
      </p:sp>
      <p:sp>
        <p:nvSpPr>
          <p:cNvPr id="50" name="Shape 43"/>
          <p:cNvSpPr/>
          <p:nvPr/>
        </p:nvSpPr>
        <p:spPr>
          <a:xfrm>
            <a:off x="7403897" y="2445106"/>
            <a:ext cx="4181551" cy="724205"/>
          </a:xfrm>
          <a:prstGeom prst="roundRect">
            <a:avLst>
              <a:gd name="adj" fmla="val 1329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7"/>
          <a:srcRect t="-44" b="-44"/>
          <a:stretch/>
        </p:blipFill>
        <p:spPr>
          <a:xfrm>
            <a:off x="7803490" y="2588666"/>
            <a:ext cx="256946" cy="228600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7518197" y="2902306"/>
            <a:ext cx="9144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900" b="1" dirty="0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8659368" y="2731313"/>
            <a:ext cx="133502" cy="152705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9"/>
          <a:srcRect t="-44" b="-44"/>
          <a:stretch/>
        </p:blipFill>
        <p:spPr>
          <a:xfrm>
            <a:off x="9430207" y="2588666"/>
            <a:ext cx="256946" cy="228600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9107424" y="2902306"/>
            <a:ext cx="9912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MONETIZATION</a:t>
            </a:r>
            <a:endParaRPr lang="en-US" sz="900" b="1" dirty="0"/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10325405" y="2731313"/>
            <a:ext cx="133502" cy="152705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10"/>
          <a:srcRect l="-57" r="-57"/>
          <a:stretch/>
        </p:blipFill>
        <p:spPr>
          <a:xfrm>
            <a:off x="11020349" y="2588666"/>
            <a:ext cx="200254" cy="228600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10773461" y="2902306"/>
            <a:ext cx="7818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COMMERCE</a:t>
            </a:r>
            <a:endParaRPr lang="en-US" sz="900" b="1" dirty="0"/>
          </a:p>
        </p:txBody>
      </p:sp>
      <p:sp>
        <p:nvSpPr>
          <p:cNvPr id="59" name="Shape 47"/>
          <p:cNvSpPr/>
          <p:nvPr/>
        </p:nvSpPr>
        <p:spPr>
          <a:xfrm>
            <a:off x="7114947" y="3152851"/>
            <a:ext cx="4638751" cy="4134002"/>
          </a:xfrm>
          <a:prstGeom prst="roundRect">
            <a:avLst>
              <a:gd name="adj" fmla="val 40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0" name="Shape 48"/>
          <p:cNvSpPr/>
          <p:nvPr/>
        </p:nvSpPr>
        <p:spPr>
          <a:xfrm>
            <a:off x="7355890" y="3286810"/>
            <a:ext cx="381305" cy="381305"/>
          </a:xfrm>
          <a:prstGeom prst="ellipse">
            <a:avLst/>
          </a:prstGeom>
          <a:solidFill>
            <a:srgbClr val="FDE68A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61" name="Image 10" descr="preencoded.png"/>
          <p:cNvPicPr>
            <a:picLocks noChangeAspect="1"/>
          </p:cNvPicPr>
          <p:nvPr/>
        </p:nvPicPr>
        <p:blipFill>
          <a:blip r:embed="rId11"/>
          <a:srcRect t="-100" b="-100"/>
          <a:stretch/>
        </p:blipFill>
        <p:spPr>
          <a:xfrm>
            <a:off x="7490766" y="3422375"/>
            <a:ext cx="114300" cy="152705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7895918" y="3363163"/>
            <a:ext cx="1781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Assumptions</a:t>
            </a:r>
            <a:endParaRPr lang="en-US" sz="1500" dirty="0"/>
          </a:p>
        </p:txBody>
      </p:sp>
      <p:sp>
        <p:nvSpPr>
          <p:cNvPr id="63" name="Shape 50"/>
          <p:cNvSpPr/>
          <p:nvPr/>
        </p:nvSpPr>
        <p:spPr>
          <a:xfrm>
            <a:off x="7376240" y="3836822"/>
            <a:ext cx="4162349" cy="629107"/>
          </a:xfrm>
          <a:prstGeom prst="roundRect">
            <a:avLst>
              <a:gd name="adj" fmla="val 8809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4" name="Shape 51"/>
          <p:cNvSpPr/>
          <p:nvPr/>
        </p:nvSpPr>
        <p:spPr>
          <a:xfrm>
            <a:off x="7499451" y="4007946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65" name="Text 52"/>
          <p:cNvSpPr txBox="1"/>
          <p:nvPr/>
        </p:nvSpPr>
        <p:spPr>
          <a:xfrm>
            <a:off x="7629296" y="3960267"/>
            <a:ext cx="19293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Audience Preference</a:t>
            </a:r>
            <a:endParaRPr lang="en-US" sz="1000" dirty="0"/>
          </a:p>
        </p:txBody>
      </p:sp>
      <p:sp>
        <p:nvSpPr>
          <p:cNvPr id="66" name="Text 53"/>
          <p:cNvSpPr txBox="1"/>
          <p:nvPr/>
        </p:nvSpPr>
        <p:spPr>
          <a:xfrm>
            <a:off x="7490766" y="4209898"/>
            <a:ext cx="3463373" cy="11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2/3 users prefer free AVOD over subscription models.</a:t>
            </a:r>
            <a:endParaRPr lang="en-US" sz="900" dirty="0"/>
          </a:p>
        </p:txBody>
      </p:sp>
      <p:sp>
        <p:nvSpPr>
          <p:cNvPr id="67" name="Shape 54"/>
          <p:cNvSpPr/>
          <p:nvPr/>
        </p:nvSpPr>
        <p:spPr>
          <a:xfrm>
            <a:off x="7388715" y="4607736"/>
            <a:ext cx="4162349" cy="780898"/>
          </a:xfrm>
          <a:prstGeom prst="roundRect">
            <a:avLst>
              <a:gd name="adj" fmla="val 5712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68" name="Shape 55"/>
          <p:cNvSpPr/>
          <p:nvPr/>
        </p:nvSpPr>
        <p:spPr>
          <a:xfrm>
            <a:off x="7508594" y="479116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69" name="Text 56"/>
          <p:cNvSpPr txBox="1"/>
          <p:nvPr/>
        </p:nvSpPr>
        <p:spPr>
          <a:xfrm>
            <a:off x="7662859" y="4725619"/>
            <a:ext cx="15480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Cost Strategy</a:t>
            </a:r>
            <a:endParaRPr lang="en-US" sz="1000" dirty="0"/>
          </a:p>
        </p:txBody>
      </p:sp>
      <p:sp>
        <p:nvSpPr>
          <p:cNvPr id="70" name="Text 57"/>
          <p:cNvSpPr txBox="1"/>
          <p:nvPr/>
        </p:nvSpPr>
        <p:spPr>
          <a:xfrm>
            <a:off x="7690104" y="4894708"/>
            <a:ext cx="34582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expensive originals in MVP; leverage creator economy &amp; licensing.</a:t>
            </a:r>
            <a:endParaRPr lang="en-US" sz="900" dirty="0"/>
          </a:p>
        </p:txBody>
      </p:sp>
      <p:sp>
        <p:nvSpPr>
          <p:cNvPr id="71" name="Shape 58"/>
          <p:cNvSpPr/>
          <p:nvPr/>
        </p:nvSpPr>
        <p:spPr>
          <a:xfrm>
            <a:off x="7376239" y="5524805"/>
            <a:ext cx="4162349" cy="629107"/>
          </a:xfrm>
          <a:prstGeom prst="roundRect">
            <a:avLst>
              <a:gd name="adj" fmla="val 8809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72" name="Shape 59"/>
          <p:cNvSpPr/>
          <p:nvPr/>
        </p:nvSpPr>
        <p:spPr>
          <a:xfrm>
            <a:off x="7490766" y="5622162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73" name="Text 60"/>
          <p:cNvSpPr txBox="1"/>
          <p:nvPr/>
        </p:nvSpPr>
        <p:spPr>
          <a:xfrm>
            <a:off x="7662859" y="5592545"/>
            <a:ext cx="17199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Readiness</a:t>
            </a:r>
            <a:endParaRPr lang="en-US" sz="1000" dirty="0"/>
          </a:p>
        </p:txBody>
      </p:sp>
      <p:sp>
        <p:nvSpPr>
          <p:cNvPr id="74" name="Text 61"/>
          <p:cNvSpPr txBox="1"/>
          <p:nvPr/>
        </p:nvSpPr>
        <p:spPr>
          <a:xfrm>
            <a:off x="7616074" y="5887262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Flipkart Live video infra is reusable and scalable for AVOD.</a:t>
            </a:r>
            <a:endParaRPr lang="en-US" sz="900" dirty="0"/>
          </a:p>
        </p:txBody>
      </p:sp>
      <p:sp>
        <p:nvSpPr>
          <p:cNvPr id="75" name="Shape 62"/>
          <p:cNvSpPr/>
          <p:nvPr/>
        </p:nvSpPr>
        <p:spPr>
          <a:xfrm>
            <a:off x="7376238" y="6379219"/>
            <a:ext cx="4162349" cy="629107"/>
          </a:xfrm>
          <a:prstGeom prst="roundRect">
            <a:avLst>
              <a:gd name="adj" fmla="val 8809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76" name="Shape 63"/>
          <p:cNvSpPr/>
          <p:nvPr/>
        </p:nvSpPr>
        <p:spPr>
          <a:xfrm>
            <a:off x="7471263" y="6499555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77" name="Text 64"/>
          <p:cNvSpPr txBox="1"/>
          <p:nvPr/>
        </p:nvSpPr>
        <p:spPr>
          <a:xfrm>
            <a:off x="7676193" y="6436462"/>
            <a:ext cx="948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Safety</a:t>
            </a:r>
            <a:endParaRPr lang="en-US" sz="1000" dirty="0"/>
          </a:p>
        </p:txBody>
      </p:sp>
      <p:sp>
        <p:nvSpPr>
          <p:cNvPr id="78" name="Text 65"/>
          <p:cNvSpPr txBox="1"/>
          <p:nvPr/>
        </p:nvSpPr>
        <p:spPr>
          <a:xfrm>
            <a:off x="7639541" y="6723127"/>
            <a:ext cx="3670673" cy="134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Family-friendly content is non-negotiable for brand perception.</a:t>
            </a:r>
            <a:endParaRPr lang="en-US" sz="900" dirty="0"/>
          </a:p>
        </p:txBody>
      </p:sp>
      <p:sp>
        <p:nvSpPr>
          <p:cNvPr id="81" name="Text 68"/>
          <p:cNvSpPr txBox="1"/>
          <p:nvPr/>
        </p:nvSpPr>
        <p:spPr>
          <a:xfrm>
            <a:off x="457200" y="8150962"/>
            <a:ext cx="2153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82" name="Text 69"/>
          <p:cNvSpPr txBox="1"/>
          <p:nvPr/>
        </p:nvSpPr>
        <p:spPr>
          <a:xfrm>
            <a:off x="11310214" y="8150962"/>
            <a:ext cx="514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01</a:t>
            </a:r>
            <a:endParaRPr lang="en-US" sz="900" dirty="0"/>
          </a:p>
        </p:txBody>
      </p:sp>
      <p:sp>
        <p:nvSpPr>
          <p:cNvPr id="87" name="Text 73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sp>
        <p:nvSpPr>
          <p:cNvPr id="89" name="Text 74"/>
          <p:cNvSpPr txBox="1"/>
          <p:nvPr/>
        </p:nvSpPr>
        <p:spPr>
          <a:xfrm>
            <a:off x="10769803" y="6420002"/>
            <a:ext cx="1209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with Genspark</a:t>
            </a:r>
            <a:endParaRPr lang="en-US" sz="900" dirty="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81287930-991D-0D0F-A83B-955AD2D792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79302" y="6362"/>
            <a:ext cx="598093" cy="5980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209398"/>
            <a:ext cx="972007" cy="3429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329" b="330"/>
          <a:stretch/>
        </p:blipFill>
        <p:spPr>
          <a:xfrm>
            <a:off x="514807" y="267005"/>
            <a:ext cx="857707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8274" y="237744"/>
            <a:ext cx="21625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834078" y="276148"/>
            <a:ext cx="4536340" cy="139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>
                <a:solidFill>
                  <a:srgbClr val="00B0F0"/>
                </a:solidFill>
              </a:rPr>
              <a:t>Product Strategy - Commerce-Led AVOD</a:t>
            </a:r>
            <a:endParaRPr lang="en-US" sz="2000" b="1" dirty="0">
              <a:solidFill>
                <a:srgbClr val="00B0F0"/>
              </a:solidFill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678924" y="295351"/>
            <a:ext cx="2157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AFFINITY GLOBAL CASE STUDY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1305" y="1067105"/>
            <a:ext cx="4667098" cy="2152498"/>
          </a:xfrm>
          <a:prstGeom prst="roundRect">
            <a:avLst>
              <a:gd name="adj" fmla="val 15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760" r="-760"/>
          <a:stretch/>
        </p:blipFill>
        <p:spPr>
          <a:xfrm>
            <a:off x="580644" y="1314907"/>
            <a:ext cx="152705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9244" y="1266444"/>
            <a:ext cx="250088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Choice Framework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80644" y="1686154"/>
            <a:ext cx="2048256" cy="1333195"/>
          </a:xfrm>
          <a:prstGeom prst="roundRect">
            <a:avLst>
              <a:gd name="adj" fmla="val 1960"/>
            </a:avLst>
          </a:prstGeom>
          <a:solidFill>
            <a:srgbClr val="FEF2F2">
              <a:alpha val="70000"/>
            </a:srgbClr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409444" y="1600200"/>
            <a:ext cx="304495" cy="304495"/>
          </a:xfrm>
          <a:prstGeom prst="ellipse">
            <a:avLst/>
          </a:prstGeom>
          <a:solidFill>
            <a:srgbClr val="EF4444">
              <a:alpha val="70000"/>
            </a:srgbClr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alphaModFix amt="70000"/>
          </a:blip>
          <a:srcRect l="-2512" r="-2512"/>
          <a:stretch/>
        </p:blipFill>
        <p:spPr>
          <a:xfrm>
            <a:off x="2510028" y="1686154"/>
            <a:ext cx="105156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43407" y="1857146"/>
            <a:ext cx="11100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OTT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743407" y="2076602"/>
            <a:ext cx="1666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(SVOD / Pure Entertainment)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895198" y="2305202"/>
            <a:ext cx="13057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Capex (Originals)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895198" y="2495398"/>
            <a:ext cx="12289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Payback Period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895198" y="2686507"/>
            <a:ext cx="12198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Competition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781605" y="1686154"/>
            <a:ext cx="2066544" cy="1333195"/>
          </a:xfrm>
          <a:prstGeom prst="roundRect">
            <a:avLst>
              <a:gd name="adj" fmla="val 1960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19549" y="1609344"/>
            <a:ext cx="304495" cy="304495"/>
          </a:xfrm>
          <a:prstGeom prst="ellipse">
            <a:avLst/>
          </a:prstGeom>
          <a:solidFill>
            <a:srgbClr val="10B981"/>
          </a:solidFill>
          <a:ln/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4714646" y="1695298"/>
            <a:ext cx="114300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952598" y="1867205"/>
            <a:ext cx="15288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Commerce-Led AVOD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2952598" y="2085746"/>
            <a:ext cx="1276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(Hybrid + Shoppable)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3105302" y="2314346"/>
            <a:ext cx="1046820" cy="13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Content Cost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3105302" y="2505456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Commerce ROI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3105302" y="2695651"/>
            <a:ext cx="15051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Leverages Existing Traffic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81305" y="3577573"/>
            <a:ext cx="4667098" cy="251934"/>
          </a:xfrm>
          <a:prstGeom prst="roundRect">
            <a:avLst>
              <a:gd name="adj" fmla="val 47962"/>
            </a:avLst>
          </a:prstGeom>
          <a:solidFill>
            <a:srgbClr val="1F2937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>
            <a:alphaModFix amt="10000"/>
          </a:blip>
          <a:srcRect l="-469" r="-469"/>
          <a:stretch/>
        </p:blipFill>
        <p:spPr>
          <a:xfrm>
            <a:off x="4543654" y="3252521"/>
            <a:ext cx="504749" cy="5715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71500" y="3638398"/>
            <a:ext cx="1286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POSITIONING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571500" y="3905402"/>
            <a:ext cx="4144061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"India's first commerce-led OTT destination blending entertainment with seamless shopping."</a:t>
            </a:r>
            <a:endParaRPr lang="en-US" sz="15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 t="-841" b="-841"/>
          <a:stretch/>
        </p:blipFill>
        <p:spPr>
          <a:xfrm>
            <a:off x="571500" y="4092910"/>
            <a:ext cx="190195" cy="17190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47649" y="4018806"/>
            <a:ext cx="234817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Content Strategy Mix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80644" y="4399196"/>
            <a:ext cx="18242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Short-Form Creator Videos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4554168" y="4441698"/>
            <a:ext cx="4151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90093" y="4643781"/>
            <a:ext cx="4267505" cy="75895"/>
          </a:xfrm>
          <a:prstGeom prst="roundRect">
            <a:avLst>
              <a:gd name="adj" fmla="val 1204822"/>
            </a:avLst>
          </a:prstGeom>
          <a:solidFill>
            <a:srgbClr val="E5E7EB"/>
          </a:solidFill>
          <a:ln/>
        </p:spPr>
      </p:sp>
      <p:sp>
        <p:nvSpPr>
          <p:cNvPr id="40" name="Shape 32"/>
          <p:cNvSpPr/>
          <p:nvPr/>
        </p:nvSpPr>
        <p:spPr>
          <a:xfrm>
            <a:off x="590093" y="4634636"/>
            <a:ext cx="2562149" cy="75895"/>
          </a:xfrm>
          <a:prstGeom prst="roundRect">
            <a:avLst>
              <a:gd name="adj" fmla="val 1204822"/>
            </a:avLst>
          </a:prstGeom>
          <a:solidFill>
            <a:srgbClr val="3B82F6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580644" y="4796513"/>
            <a:ext cx="22677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Reviews, Unboxing, Tutorials (Low Cost)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580644" y="5064003"/>
            <a:ext cx="12527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Shoppable Shows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4554737" y="5024628"/>
            <a:ext cx="4050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597103" y="5265161"/>
            <a:ext cx="4267505" cy="75895"/>
          </a:xfrm>
          <a:prstGeom prst="roundRect">
            <a:avLst>
              <a:gd name="adj" fmla="val 1204822"/>
            </a:avLst>
          </a:prstGeom>
          <a:solidFill>
            <a:srgbClr val="E5E7EB"/>
          </a:solidFill>
          <a:ln/>
        </p:spPr>
      </p:sp>
      <p:sp>
        <p:nvSpPr>
          <p:cNvPr id="45" name="Shape 37"/>
          <p:cNvSpPr/>
          <p:nvPr/>
        </p:nvSpPr>
        <p:spPr>
          <a:xfrm>
            <a:off x="580644" y="5274315"/>
            <a:ext cx="1067105" cy="75895"/>
          </a:xfrm>
          <a:prstGeom prst="roundRect">
            <a:avLst>
              <a:gd name="adj" fmla="val 1204822"/>
            </a:avLst>
          </a:prstGeom>
          <a:solidFill>
            <a:srgbClr val="FBBF24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580644" y="5443246"/>
            <a:ext cx="22384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Fashion, Electronics, Beauty Categories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571500" y="5712883"/>
            <a:ext cx="18050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Licensed Regional Content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4573939" y="5786146"/>
            <a:ext cx="3858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590092" y="5977256"/>
            <a:ext cx="4267505" cy="75895"/>
          </a:xfrm>
          <a:prstGeom prst="roundRect">
            <a:avLst>
              <a:gd name="adj" fmla="val 1204822"/>
            </a:avLst>
          </a:prstGeom>
          <a:solidFill>
            <a:srgbClr val="E5E7EB"/>
          </a:solidFill>
          <a:ln/>
        </p:spPr>
      </p:sp>
      <p:sp>
        <p:nvSpPr>
          <p:cNvPr id="50" name="Shape 42"/>
          <p:cNvSpPr/>
          <p:nvPr/>
        </p:nvSpPr>
        <p:spPr>
          <a:xfrm>
            <a:off x="597103" y="5976733"/>
            <a:ext cx="428854" cy="75895"/>
          </a:xfrm>
          <a:prstGeom prst="roundRect">
            <a:avLst>
              <a:gd name="adj" fmla="val 1204822"/>
            </a:avLst>
          </a:prstGeom>
          <a:solidFill>
            <a:srgbClr val="10B981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571500" y="6156413"/>
            <a:ext cx="2382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Comedy Clips, Infotainment (Engagement)</a:t>
            </a:r>
            <a:endParaRPr 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598801" y="6362153"/>
            <a:ext cx="15672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Commerce Events</a:t>
            </a:r>
            <a:endParaRPr lang="en-US" sz="1000" dirty="0"/>
          </a:p>
        </p:txBody>
      </p:sp>
      <p:sp>
        <p:nvSpPr>
          <p:cNvPr id="53" name="Text 45"/>
          <p:cNvSpPr txBox="1"/>
          <p:nvPr/>
        </p:nvSpPr>
        <p:spPr>
          <a:xfrm>
            <a:off x="4594729" y="6420002"/>
            <a:ext cx="3191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571500" y="6617512"/>
            <a:ext cx="4267505" cy="75895"/>
          </a:xfrm>
          <a:prstGeom prst="roundRect">
            <a:avLst>
              <a:gd name="adj" fmla="val 1204822"/>
            </a:avLst>
          </a:prstGeom>
          <a:solidFill>
            <a:srgbClr val="E5E7EB"/>
          </a:solidFill>
          <a:ln/>
        </p:spPr>
      </p:sp>
      <p:sp>
        <p:nvSpPr>
          <p:cNvPr id="55" name="Shape 47"/>
          <p:cNvSpPr/>
          <p:nvPr/>
        </p:nvSpPr>
        <p:spPr>
          <a:xfrm>
            <a:off x="571500" y="6603861"/>
            <a:ext cx="219456" cy="75895"/>
          </a:xfrm>
          <a:prstGeom prst="roundRect">
            <a:avLst>
              <a:gd name="adj" fmla="val 1204822"/>
            </a:avLst>
          </a:prstGeom>
          <a:solidFill>
            <a:srgbClr val="EF4444"/>
          </a:solidFill>
          <a:ln/>
        </p:spPr>
      </p:sp>
      <p:sp>
        <p:nvSpPr>
          <p:cNvPr id="56" name="Text 48"/>
          <p:cNvSpPr txBox="1"/>
          <p:nvPr/>
        </p:nvSpPr>
        <p:spPr>
          <a:xfrm>
            <a:off x="571500" y="6693407"/>
            <a:ext cx="24103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Launches, Flash Sales (High GMV)</a:t>
            </a:r>
            <a:endParaRPr lang="en-US" sz="900" dirty="0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5277002" y="1104595"/>
            <a:ext cx="219456" cy="190195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5572354" y="1067105"/>
            <a:ext cx="33247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Strategy Wins (4 Pillars)</a:t>
            </a:r>
            <a:endParaRPr lang="en-US" sz="1500" dirty="0"/>
          </a:p>
        </p:txBody>
      </p:sp>
      <p:sp>
        <p:nvSpPr>
          <p:cNvPr id="59" name="Shape 50"/>
          <p:cNvSpPr/>
          <p:nvPr/>
        </p:nvSpPr>
        <p:spPr>
          <a:xfrm>
            <a:off x="5277002" y="1485900"/>
            <a:ext cx="3191256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 w="50800">
            <a:solidFill>
              <a:srgbClr val="2874F0"/>
            </a:solidFill>
            <a:prstDash val="solid"/>
          </a:ln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0" name="Shape 51"/>
          <p:cNvSpPr/>
          <p:nvPr/>
        </p:nvSpPr>
        <p:spPr>
          <a:xfrm>
            <a:off x="5438851" y="1676095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548579" y="1809598"/>
            <a:ext cx="237744" cy="190195"/>
          </a:xfrm>
          <a:prstGeom prst="rect">
            <a:avLst/>
          </a:prstGeom>
        </p:spPr>
      </p:pic>
      <p:sp>
        <p:nvSpPr>
          <p:cNvPr id="62" name="Text 52"/>
          <p:cNvSpPr txBox="1"/>
          <p:nvPr/>
        </p:nvSpPr>
        <p:spPr>
          <a:xfrm>
            <a:off x="6010351" y="1686154"/>
            <a:ext cx="13670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Leverage</a:t>
            </a:r>
            <a:endParaRPr lang="en-US" sz="1000" dirty="0"/>
          </a:p>
        </p:txBody>
      </p:sp>
      <p:sp>
        <p:nvSpPr>
          <p:cNvPr id="63" name="Text 53"/>
          <p:cNvSpPr txBox="1"/>
          <p:nvPr/>
        </p:nvSpPr>
        <p:spPr>
          <a:xfrm>
            <a:off x="6010351" y="1923898"/>
            <a:ext cx="23152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reach to 400M+ users. Zero initial CAC compared to standalone apps.</a:t>
            </a:r>
            <a:endParaRPr lang="en-US" sz="900" dirty="0"/>
          </a:p>
        </p:txBody>
      </p:sp>
      <p:sp>
        <p:nvSpPr>
          <p:cNvPr id="64" name="Shape 54"/>
          <p:cNvSpPr/>
          <p:nvPr/>
        </p:nvSpPr>
        <p:spPr>
          <a:xfrm>
            <a:off x="8620049" y="1485900"/>
            <a:ext cx="3191256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 w="50800">
            <a:solidFill>
              <a:srgbClr val="FFE500"/>
            </a:solidFill>
            <a:prstDash val="solid"/>
          </a:ln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5" name="Shape 55"/>
          <p:cNvSpPr/>
          <p:nvPr/>
        </p:nvSpPr>
        <p:spPr>
          <a:xfrm>
            <a:off x="8781898" y="1676095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66" name="Image 8" descr="preencoded.png"/>
          <p:cNvPicPr>
            <a:picLocks noChangeAspect="1"/>
          </p:cNvPicPr>
          <p:nvPr/>
        </p:nvPicPr>
        <p:blipFill>
          <a:blip r:embed="rId11"/>
          <a:srcRect l="-1282" r="-1282"/>
          <a:stretch/>
        </p:blipFill>
        <p:spPr>
          <a:xfrm>
            <a:off x="8900770" y="1809598"/>
            <a:ext cx="219456" cy="190195"/>
          </a:xfrm>
          <a:prstGeom prst="rect">
            <a:avLst/>
          </a:prstGeom>
        </p:spPr>
      </p:pic>
      <p:sp>
        <p:nvSpPr>
          <p:cNvPr id="67" name="Text 56"/>
          <p:cNvSpPr txBox="1"/>
          <p:nvPr/>
        </p:nvSpPr>
        <p:spPr>
          <a:xfrm>
            <a:off x="9353398" y="1686154"/>
            <a:ext cx="15581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Commerce Integration</a:t>
            </a:r>
            <a:endParaRPr lang="en-US" sz="1000" dirty="0"/>
          </a:p>
        </p:txBody>
      </p:sp>
      <p:sp>
        <p:nvSpPr>
          <p:cNvPr id="68" name="Text 57"/>
          <p:cNvSpPr txBox="1"/>
          <p:nvPr/>
        </p:nvSpPr>
        <p:spPr>
          <a:xfrm>
            <a:off x="9353398" y="1923898"/>
            <a:ext cx="22009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catalog, offers, wallet &amp; 1-click checkout. Closed-loop attribution loop.</a:t>
            </a:r>
            <a:endParaRPr lang="en-US" sz="900" dirty="0"/>
          </a:p>
        </p:txBody>
      </p:sp>
      <p:sp>
        <p:nvSpPr>
          <p:cNvPr id="69" name="Shape 58"/>
          <p:cNvSpPr/>
          <p:nvPr/>
        </p:nvSpPr>
        <p:spPr>
          <a:xfrm>
            <a:off x="5277002" y="2590495"/>
            <a:ext cx="3191256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 w="50800">
            <a:solidFill>
              <a:srgbClr val="10B981"/>
            </a:solidFill>
            <a:prstDash val="solid"/>
          </a:ln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0" name="Shape 59"/>
          <p:cNvSpPr/>
          <p:nvPr/>
        </p:nvSpPr>
        <p:spPr>
          <a:xfrm>
            <a:off x="5438851" y="2781605"/>
            <a:ext cx="457200" cy="4572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71" name="Image 9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/>
        </p:blipFill>
        <p:spPr>
          <a:xfrm>
            <a:off x="5581498" y="2915107"/>
            <a:ext cx="171907" cy="190195"/>
          </a:xfrm>
          <a:prstGeom prst="rect">
            <a:avLst/>
          </a:prstGeom>
        </p:spPr>
      </p:pic>
      <p:sp>
        <p:nvSpPr>
          <p:cNvPr id="72" name="Text 60"/>
          <p:cNvSpPr txBox="1"/>
          <p:nvPr/>
        </p:nvSpPr>
        <p:spPr>
          <a:xfrm>
            <a:off x="6010351" y="2790749"/>
            <a:ext cx="10908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Efficiency</a:t>
            </a:r>
            <a:endParaRPr lang="en-US" sz="1000" dirty="0"/>
          </a:p>
        </p:txBody>
      </p:sp>
      <p:sp>
        <p:nvSpPr>
          <p:cNvPr id="73" name="Text 61"/>
          <p:cNvSpPr txBox="1"/>
          <p:nvPr/>
        </p:nvSpPr>
        <p:spPr>
          <a:xfrm>
            <a:off x="6010351" y="3029407"/>
            <a:ext cx="22384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Creator-first model + regional licensing. 90% cheaper than producing originals.</a:t>
            </a:r>
            <a:endParaRPr lang="en-US" sz="900" dirty="0"/>
          </a:p>
        </p:txBody>
      </p:sp>
      <p:sp>
        <p:nvSpPr>
          <p:cNvPr id="74" name="Shape 62"/>
          <p:cNvSpPr/>
          <p:nvPr/>
        </p:nvSpPr>
        <p:spPr>
          <a:xfrm>
            <a:off x="8620049" y="2590495"/>
            <a:ext cx="3191256" cy="952805"/>
          </a:xfrm>
          <a:prstGeom prst="roundRect">
            <a:avLst>
              <a:gd name="adj" fmla="val 7678"/>
            </a:avLst>
          </a:prstGeom>
          <a:solidFill>
            <a:srgbClr val="FFFFFF"/>
          </a:solidFill>
          <a:ln w="50800">
            <a:solidFill>
              <a:srgbClr val="F59E0B"/>
            </a:solidFill>
            <a:prstDash val="solid"/>
          </a:ln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75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915400" y="2915107"/>
            <a:ext cx="190195" cy="190195"/>
          </a:xfrm>
          <a:prstGeom prst="rect">
            <a:avLst/>
          </a:prstGeom>
        </p:spPr>
      </p:pic>
      <p:sp>
        <p:nvSpPr>
          <p:cNvPr id="76" name="Text 63"/>
          <p:cNvSpPr txBox="1"/>
          <p:nvPr/>
        </p:nvSpPr>
        <p:spPr>
          <a:xfrm>
            <a:off x="9353398" y="2790749"/>
            <a:ext cx="11768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 Monetization</a:t>
            </a:r>
            <a:endParaRPr lang="en-US" sz="1000" dirty="0"/>
          </a:p>
        </p:txBody>
      </p:sp>
      <p:sp>
        <p:nvSpPr>
          <p:cNvPr id="77" name="Text 64"/>
          <p:cNvSpPr txBox="1"/>
          <p:nvPr/>
        </p:nvSpPr>
        <p:spPr>
          <a:xfrm>
            <a:off x="9353398" y="3029407"/>
            <a:ext cx="23152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media data improves CPMs. Higher ROAS for brands via shoppable ads.</a:t>
            </a:r>
            <a:endParaRPr lang="en-US" sz="900" dirty="0"/>
          </a:p>
        </p:txBody>
      </p:sp>
      <p:pic>
        <p:nvPicPr>
          <p:cNvPr id="79" name="Image 11" descr="preencoded.png"/>
          <p:cNvPicPr>
            <a:picLocks noChangeAspect="1"/>
          </p:cNvPicPr>
          <p:nvPr/>
        </p:nvPicPr>
        <p:blipFill>
          <a:blip r:embed="rId14"/>
          <a:srcRect l="-1064" r="-1064"/>
          <a:stretch/>
        </p:blipFill>
        <p:spPr>
          <a:xfrm>
            <a:off x="5477256" y="4019702"/>
            <a:ext cx="219456" cy="171907"/>
          </a:xfrm>
          <a:prstGeom prst="rect">
            <a:avLst/>
          </a:prstGeom>
        </p:spPr>
      </p:pic>
      <p:sp>
        <p:nvSpPr>
          <p:cNvPr id="80" name="Text 66"/>
          <p:cNvSpPr txBox="1"/>
          <p:nvPr/>
        </p:nvSpPr>
        <p:spPr>
          <a:xfrm>
            <a:off x="5772607" y="3972154"/>
            <a:ext cx="269107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Advantage Matrix</a:t>
            </a:r>
            <a:endParaRPr lang="en-US" sz="1300" dirty="0"/>
          </a:p>
        </p:txBody>
      </p:sp>
      <p:sp>
        <p:nvSpPr>
          <p:cNvPr id="81" name="Shape 67"/>
          <p:cNvSpPr/>
          <p:nvPr/>
        </p:nvSpPr>
        <p:spPr>
          <a:xfrm>
            <a:off x="5477256" y="4390949"/>
            <a:ext cx="6133795" cy="2343607"/>
          </a:xfrm>
          <a:prstGeom prst="roundRect">
            <a:avLst>
              <a:gd name="adj" fmla="val 126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68"/>
          <p:cNvSpPr/>
          <p:nvPr/>
        </p:nvSpPr>
        <p:spPr>
          <a:xfrm>
            <a:off x="5486400" y="4401007"/>
            <a:ext cx="6115507" cy="53309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3" name="Text 69"/>
          <p:cNvSpPr txBox="1"/>
          <p:nvPr/>
        </p:nvSpPr>
        <p:spPr>
          <a:xfrm>
            <a:off x="5639105" y="4591202"/>
            <a:ext cx="13908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/ CAPABILITY</a:t>
            </a:r>
            <a:endParaRPr lang="en-US" sz="900" dirty="0"/>
          </a:p>
        </p:txBody>
      </p:sp>
      <p:sp>
        <p:nvSpPr>
          <p:cNvPr id="84" name="Shape 70"/>
          <p:cNvSpPr/>
          <p:nvPr/>
        </p:nvSpPr>
        <p:spPr>
          <a:xfrm>
            <a:off x="7174382" y="4401007"/>
            <a:ext cx="1380744" cy="53309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5" name="Shape 71"/>
          <p:cNvSpPr/>
          <p:nvPr/>
        </p:nvSpPr>
        <p:spPr>
          <a:xfrm>
            <a:off x="7174382" y="4914900"/>
            <a:ext cx="138074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6" name="Text 72"/>
          <p:cNvSpPr txBox="1"/>
          <p:nvPr/>
        </p:nvSpPr>
        <p:spPr>
          <a:xfrm>
            <a:off x="7326173" y="4586630"/>
            <a:ext cx="9144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FLIPKART OTT</a:t>
            </a:r>
            <a:endParaRPr lang="en-US" sz="900" dirty="0"/>
          </a:p>
        </p:txBody>
      </p:sp>
      <p:sp>
        <p:nvSpPr>
          <p:cNvPr id="87" name="Text 73"/>
          <p:cNvSpPr txBox="1"/>
          <p:nvPr/>
        </p:nvSpPr>
        <p:spPr>
          <a:xfrm>
            <a:off x="8704174" y="4515307"/>
            <a:ext cx="6199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MX</a:t>
            </a:r>
            <a:endParaRPr lang="en-US" sz="900" dirty="0"/>
          </a:p>
        </p:txBody>
      </p:sp>
      <p:sp>
        <p:nvSpPr>
          <p:cNvPr id="88" name="Text 74"/>
          <p:cNvSpPr txBox="1"/>
          <p:nvPr/>
        </p:nvSpPr>
        <p:spPr>
          <a:xfrm>
            <a:off x="9699041" y="4515307"/>
            <a:ext cx="6483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 SHORTS</a:t>
            </a:r>
            <a:endParaRPr lang="en-US" sz="900" dirty="0"/>
          </a:p>
        </p:txBody>
      </p:sp>
      <p:sp>
        <p:nvSpPr>
          <p:cNvPr id="89" name="Text 75"/>
          <p:cNvSpPr txBox="1"/>
          <p:nvPr/>
        </p:nvSpPr>
        <p:spPr>
          <a:xfrm>
            <a:off x="10940796" y="4591202"/>
            <a:ext cx="581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MEESHO</a:t>
            </a:r>
            <a:endParaRPr lang="en-US" sz="900" dirty="0"/>
          </a:p>
        </p:txBody>
      </p:sp>
      <p:sp>
        <p:nvSpPr>
          <p:cNvPr id="90" name="Shape 76"/>
          <p:cNvSpPr/>
          <p:nvPr/>
        </p:nvSpPr>
        <p:spPr>
          <a:xfrm>
            <a:off x="5486400" y="4934102"/>
            <a:ext cx="6115507" cy="5522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77"/>
          <p:cNvSpPr txBox="1"/>
          <p:nvPr/>
        </p:nvSpPr>
        <p:spPr>
          <a:xfrm>
            <a:off x="5639105" y="5024628"/>
            <a:ext cx="120517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Commerce Intent Signals</a:t>
            </a:r>
            <a:endParaRPr lang="en-US" sz="1000" dirty="0"/>
          </a:p>
        </p:txBody>
      </p:sp>
      <p:sp>
        <p:nvSpPr>
          <p:cNvPr id="92" name="Shape 78"/>
          <p:cNvSpPr/>
          <p:nvPr/>
        </p:nvSpPr>
        <p:spPr>
          <a:xfrm>
            <a:off x="7174382" y="4934102"/>
            <a:ext cx="1380744" cy="552298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93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326173" y="5045659"/>
            <a:ext cx="133502" cy="133502"/>
          </a:xfrm>
          <a:prstGeom prst="rect">
            <a:avLst/>
          </a:prstGeom>
        </p:spPr>
      </p:pic>
      <p:sp>
        <p:nvSpPr>
          <p:cNvPr id="94" name="Text 79"/>
          <p:cNvSpPr txBox="1"/>
          <p:nvPr/>
        </p:nvSpPr>
        <p:spPr>
          <a:xfrm>
            <a:off x="7313707" y="5083373"/>
            <a:ext cx="8430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(1st Party)</a:t>
            </a:r>
            <a:endParaRPr lang="en-US" sz="1000" dirty="0"/>
          </a:p>
        </p:txBody>
      </p:sp>
      <p:sp>
        <p:nvSpPr>
          <p:cNvPr id="95" name="Text 80"/>
          <p:cNvSpPr txBox="1"/>
          <p:nvPr/>
        </p:nvSpPr>
        <p:spPr>
          <a:xfrm>
            <a:off x="8704174" y="5119726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00" dirty="0"/>
          </a:p>
        </p:txBody>
      </p:sp>
      <p:sp>
        <p:nvSpPr>
          <p:cNvPr id="96" name="Text 81"/>
          <p:cNvSpPr txBox="1"/>
          <p:nvPr/>
        </p:nvSpPr>
        <p:spPr>
          <a:xfrm>
            <a:off x="9699041" y="5119726"/>
            <a:ext cx="3675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000" dirty="0"/>
          </a:p>
        </p:txBody>
      </p:sp>
      <p:sp>
        <p:nvSpPr>
          <p:cNvPr id="97" name="Text 82"/>
          <p:cNvSpPr txBox="1"/>
          <p:nvPr/>
        </p:nvSpPr>
        <p:spPr>
          <a:xfrm>
            <a:off x="10940796" y="5119726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00" dirty="0"/>
          </a:p>
        </p:txBody>
      </p:sp>
      <p:sp>
        <p:nvSpPr>
          <p:cNvPr id="98" name="Shape 83"/>
          <p:cNvSpPr/>
          <p:nvPr/>
        </p:nvSpPr>
        <p:spPr>
          <a:xfrm>
            <a:off x="5486400" y="5481828"/>
            <a:ext cx="6115507" cy="35204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9" name="Shape 84"/>
          <p:cNvSpPr/>
          <p:nvPr/>
        </p:nvSpPr>
        <p:spPr>
          <a:xfrm>
            <a:off x="5486400" y="5481828"/>
            <a:ext cx="6115507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0" name="Text 85"/>
          <p:cNvSpPr txBox="1"/>
          <p:nvPr/>
        </p:nvSpPr>
        <p:spPr>
          <a:xfrm>
            <a:off x="5639105" y="5572354"/>
            <a:ext cx="1014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Depth</a:t>
            </a:r>
            <a:endParaRPr lang="en-US" sz="1000" dirty="0"/>
          </a:p>
        </p:txBody>
      </p:sp>
      <p:sp>
        <p:nvSpPr>
          <p:cNvPr id="101" name="Shape 86"/>
          <p:cNvSpPr/>
          <p:nvPr/>
        </p:nvSpPr>
        <p:spPr>
          <a:xfrm>
            <a:off x="7174382" y="5481828"/>
            <a:ext cx="1380744" cy="352044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102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326173" y="5588813"/>
            <a:ext cx="133502" cy="133502"/>
          </a:xfrm>
          <a:prstGeom prst="rect">
            <a:avLst/>
          </a:prstGeom>
        </p:spPr>
      </p:pic>
      <p:sp>
        <p:nvSpPr>
          <p:cNvPr id="103" name="Text 87"/>
          <p:cNvSpPr txBox="1"/>
          <p:nvPr/>
        </p:nvSpPr>
        <p:spPr>
          <a:xfrm>
            <a:off x="7498080" y="5572354"/>
            <a:ext cx="6528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</a:t>
            </a:r>
            <a:endParaRPr lang="en-US" sz="1000" dirty="0"/>
          </a:p>
        </p:txBody>
      </p:sp>
      <p:sp>
        <p:nvSpPr>
          <p:cNvPr id="104" name="Text 88"/>
          <p:cNvSpPr txBox="1"/>
          <p:nvPr/>
        </p:nvSpPr>
        <p:spPr>
          <a:xfrm>
            <a:off x="8704174" y="5572354"/>
            <a:ext cx="3959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00" dirty="0"/>
          </a:p>
        </p:txBody>
      </p:sp>
      <p:pic>
        <p:nvPicPr>
          <p:cNvPr id="105" name="Image 14" descr="preencoded.png"/>
          <p:cNvPicPr>
            <a:picLocks noChangeAspect="1"/>
          </p:cNvPicPr>
          <p:nvPr/>
        </p:nvPicPr>
        <p:blipFill>
          <a:blip r:embed="rId16"/>
          <a:srcRect l="-2512" r="-2512"/>
          <a:stretch/>
        </p:blipFill>
        <p:spPr>
          <a:xfrm>
            <a:off x="9699041" y="5588813"/>
            <a:ext cx="105156" cy="133502"/>
          </a:xfrm>
          <a:prstGeom prst="rect">
            <a:avLst/>
          </a:prstGeom>
        </p:spPr>
      </p:pic>
      <p:sp>
        <p:nvSpPr>
          <p:cNvPr id="106" name="Text 89"/>
          <p:cNvSpPr txBox="1"/>
          <p:nvPr/>
        </p:nvSpPr>
        <p:spPr>
          <a:xfrm>
            <a:off x="9842602" y="5572354"/>
            <a:ext cx="4434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000" dirty="0"/>
          </a:p>
        </p:txBody>
      </p:sp>
      <p:sp>
        <p:nvSpPr>
          <p:cNvPr id="107" name="Text 90"/>
          <p:cNvSpPr txBox="1"/>
          <p:nvPr/>
        </p:nvSpPr>
        <p:spPr>
          <a:xfrm>
            <a:off x="10940796" y="5572354"/>
            <a:ext cx="614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000" dirty="0"/>
          </a:p>
        </p:txBody>
      </p:sp>
      <p:sp>
        <p:nvSpPr>
          <p:cNvPr id="108" name="Shape 91"/>
          <p:cNvSpPr/>
          <p:nvPr/>
        </p:nvSpPr>
        <p:spPr>
          <a:xfrm>
            <a:off x="5486400" y="5833872"/>
            <a:ext cx="6115507" cy="5431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Shape 92"/>
          <p:cNvSpPr/>
          <p:nvPr/>
        </p:nvSpPr>
        <p:spPr>
          <a:xfrm>
            <a:off x="5486400" y="5833872"/>
            <a:ext cx="6115507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0" name="Text 93"/>
          <p:cNvSpPr txBox="1"/>
          <p:nvPr/>
        </p:nvSpPr>
        <p:spPr>
          <a:xfrm>
            <a:off x="5639105" y="5924398"/>
            <a:ext cx="9290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Closed-Loop Attribution</a:t>
            </a:r>
            <a:endParaRPr lang="en-US" sz="1000" dirty="0"/>
          </a:p>
        </p:txBody>
      </p:sp>
      <p:sp>
        <p:nvSpPr>
          <p:cNvPr id="111" name="Shape 94"/>
          <p:cNvSpPr/>
          <p:nvPr/>
        </p:nvSpPr>
        <p:spPr>
          <a:xfrm>
            <a:off x="7174382" y="5833872"/>
            <a:ext cx="1380744" cy="543154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112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326173" y="6036869"/>
            <a:ext cx="133502" cy="133502"/>
          </a:xfrm>
          <a:prstGeom prst="rect">
            <a:avLst/>
          </a:prstGeom>
        </p:spPr>
      </p:pic>
      <p:sp>
        <p:nvSpPr>
          <p:cNvPr id="113" name="Text 95"/>
          <p:cNvSpPr txBox="1"/>
          <p:nvPr/>
        </p:nvSpPr>
        <p:spPr>
          <a:xfrm>
            <a:off x="7498080" y="6019495"/>
            <a:ext cx="4818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000" dirty="0"/>
          </a:p>
        </p:txBody>
      </p:sp>
      <p:sp>
        <p:nvSpPr>
          <p:cNvPr id="114" name="Text 96"/>
          <p:cNvSpPr txBox="1"/>
          <p:nvPr/>
        </p:nvSpPr>
        <p:spPr>
          <a:xfrm>
            <a:off x="8704174" y="6019495"/>
            <a:ext cx="5001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1000" dirty="0"/>
          </a:p>
        </p:txBody>
      </p:sp>
      <p:pic>
        <p:nvPicPr>
          <p:cNvPr id="115" name="Image 16" descr="preencoded.png"/>
          <p:cNvPicPr>
            <a:picLocks noChangeAspect="1"/>
          </p:cNvPicPr>
          <p:nvPr/>
        </p:nvPicPr>
        <p:blipFill>
          <a:blip r:embed="rId16"/>
          <a:srcRect l="-2512" r="-2512"/>
          <a:stretch/>
        </p:blipFill>
        <p:spPr>
          <a:xfrm>
            <a:off x="9699041" y="6036869"/>
            <a:ext cx="105156" cy="133502"/>
          </a:xfrm>
          <a:prstGeom prst="rect">
            <a:avLst/>
          </a:prstGeom>
        </p:spPr>
      </p:pic>
      <p:sp>
        <p:nvSpPr>
          <p:cNvPr id="116" name="Text 97"/>
          <p:cNvSpPr txBox="1"/>
          <p:nvPr/>
        </p:nvSpPr>
        <p:spPr>
          <a:xfrm>
            <a:off x="9842602" y="6019495"/>
            <a:ext cx="3675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000" dirty="0"/>
          </a:p>
        </p:txBody>
      </p:sp>
      <p:sp>
        <p:nvSpPr>
          <p:cNvPr id="117" name="Text 98"/>
          <p:cNvSpPr txBox="1"/>
          <p:nvPr/>
        </p:nvSpPr>
        <p:spPr>
          <a:xfrm>
            <a:off x="10940796" y="6019495"/>
            <a:ext cx="3959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00" dirty="0"/>
          </a:p>
        </p:txBody>
      </p:sp>
      <p:sp>
        <p:nvSpPr>
          <p:cNvPr id="118" name="Shape 99"/>
          <p:cNvSpPr/>
          <p:nvPr/>
        </p:nvSpPr>
        <p:spPr>
          <a:xfrm>
            <a:off x="5486400" y="6377026"/>
            <a:ext cx="6115507" cy="35204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9" name="Shape 100"/>
          <p:cNvSpPr/>
          <p:nvPr/>
        </p:nvSpPr>
        <p:spPr>
          <a:xfrm>
            <a:off x="5486400" y="6377026"/>
            <a:ext cx="6115507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0" name="Text 101"/>
          <p:cNvSpPr txBox="1"/>
          <p:nvPr/>
        </p:nvSpPr>
        <p:spPr>
          <a:xfrm>
            <a:off x="5639105" y="6467551"/>
            <a:ext cx="12911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Loyalty Integration</a:t>
            </a:r>
            <a:endParaRPr lang="en-US" sz="1000" dirty="0"/>
          </a:p>
        </p:txBody>
      </p:sp>
      <p:sp>
        <p:nvSpPr>
          <p:cNvPr id="121" name="Shape 102"/>
          <p:cNvSpPr/>
          <p:nvPr/>
        </p:nvSpPr>
        <p:spPr>
          <a:xfrm>
            <a:off x="7174382" y="6377026"/>
            <a:ext cx="1380744" cy="352044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122" name="Image 17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326173" y="6484010"/>
            <a:ext cx="133502" cy="133502"/>
          </a:xfrm>
          <a:prstGeom prst="rect">
            <a:avLst/>
          </a:prstGeom>
        </p:spPr>
      </p:pic>
      <p:sp>
        <p:nvSpPr>
          <p:cNvPr id="123" name="Text 103"/>
          <p:cNvSpPr txBox="1"/>
          <p:nvPr/>
        </p:nvSpPr>
        <p:spPr>
          <a:xfrm>
            <a:off x="7498080" y="6467551"/>
            <a:ext cx="8723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SuperCoins</a:t>
            </a:r>
            <a:endParaRPr lang="en-US" sz="1000" dirty="0"/>
          </a:p>
        </p:txBody>
      </p:sp>
      <p:sp>
        <p:nvSpPr>
          <p:cNvPr id="124" name="Text 104"/>
          <p:cNvSpPr txBox="1"/>
          <p:nvPr/>
        </p:nvSpPr>
        <p:spPr>
          <a:xfrm>
            <a:off x="8704174" y="6467551"/>
            <a:ext cx="4718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</a:t>
            </a:r>
            <a:endParaRPr lang="en-US" sz="1000" dirty="0"/>
          </a:p>
        </p:txBody>
      </p:sp>
      <p:pic>
        <p:nvPicPr>
          <p:cNvPr id="125" name="Image 18" descr="preencoded.png"/>
          <p:cNvPicPr>
            <a:picLocks noChangeAspect="1"/>
          </p:cNvPicPr>
          <p:nvPr/>
        </p:nvPicPr>
        <p:blipFill>
          <a:blip r:embed="rId16"/>
          <a:srcRect l="-2512" r="-2512"/>
          <a:stretch/>
        </p:blipFill>
        <p:spPr>
          <a:xfrm>
            <a:off x="9699041" y="6484010"/>
            <a:ext cx="105156" cy="133502"/>
          </a:xfrm>
          <a:prstGeom prst="rect">
            <a:avLst/>
          </a:prstGeom>
        </p:spPr>
      </p:pic>
      <p:sp>
        <p:nvSpPr>
          <p:cNvPr id="126" name="Text 105"/>
          <p:cNvSpPr txBox="1"/>
          <p:nvPr/>
        </p:nvSpPr>
        <p:spPr>
          <a:xfrm>
            <a:off x="9842602" y="6467551"/>
            <a:ext cx="4434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000" dirty="0"/>
          </a:p>
        </p:txBody>
      </p:sp>
      <p:sp>
        <p:nvSpPr>
          <p:cNvPr id="127" name="Text 106"/>
          <p:cNvSpPr txBox="1"/>
          <p:nvPr/>
        </p:nvSpPr>
        <p:spPr>
          <a:xfrm>
            <a:off x="10940796" y="6467551"/>
            <a:ext cx="5669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</a:t>
            </a:r>
            <a:endParaRPr lang="en-US" sz="1000" dirty="0"/>
          </a:p>
        </p:txBody>
      </p:sp>
      <p:sp>
        <p:nvSpPr>
          <p:cNvPr id="128" name="Text 107"/>
          <p:cNvSpPr txBox="1"/>
          <p:nvPr/>
        </p:nvSpPr>
        <p:spPr>
          <a:xfrm>
            <a:off x="7478878" y="6810451"/>
            <a:ext cx="4219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30" name="Text 109"/>
          <p:cNvSpPr txBox="1"/>
          <p:nvPr/>
        </p:nvSpPr>
        <p:spPr>
          <a:xfrm>
            <a:off x="11286439" y="6558077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140" name="Picture 139">
            <a:extLst>
              <a:ext uri="{FF2B5EF4-FFF2-40B4-BE49-F238E27FC236}">
                <a16:creationId xmlns:a16="http://schemas.microsoft.com/office/drawing/2014/main" id="{13ECC849-82D7-71E5-DE86-7E66E6DE28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479302" y="6362"/>
            <a:ext cx="598093" cy="5980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9398"/>
            <a:ext cx="972007" cy="3429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329" b="330"/>
          <a:stretch/>
        </p:blipFill>
        <p:spPr>
          <a:xfrm>
            <a:off x="514807" y="267005"/>
            <a:ext cx="857707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8274" y="237744"/>
            <a:ext cx="15151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Scope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193998" y="276149"/>
            <a:ext cx="5130699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>
                <a:solidFill>
                  <a:srgbClr val="00B0F0"/>
                </a:solidFill>
              </a:rPr>
              <a:t>MVP Specifications &amp; Technical Architecture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678924" y="295351"/>
            <a:ext cx="2157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AFFINITY GLOBAL CASE STUDY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4495" y="1067105"/>
            <a:ext cx="2781605" cy="3648456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4495" y="1067105"/>
            <a:ext cx="2781605" cy="384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0"/>
          <p:cNvSpPr/>
          <p:nvPr/>
        </p:nvSpPr>
        <p:spPr>
          <a:xfrm>
            <a:off x="495605" y="12957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DBEAF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9846" y="1399946"/>
            <a:ext cx="171907" cy="17190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95605" y="1819656"/>
            <a:ext cx="14813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Content Layer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95605" y="2095805"/>
            <a:ext cx="12198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EXPERIENCE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2409444"/>
            <a:ext cx="214152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Short-form Vertical: 1-3 min videos for discovery feed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" y="2832811"/>
            <a:ext cx="23033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Content: Reviews, unboxings, tutorials, styling tips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85800" y="3256178"/>
            <a:ext cx="20747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Clips: Low-cost licensed comedy/movie scenes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685800" y="3678631"/>
            <a:ext cx="215066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Shoppable Shows: Weekly flagship episodes (20-30 mins)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" y="4101998"/>
            <a:ext cx="205557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Events: 2 major events/week (flash sales/launches)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238805" y="1067105"/>
            <a:ext cx="2781605" cy="3648456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38805" y="1067105"/>
            <a:ext cx="2781605" cy="38405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Shape 20"/>
          <p:cNvSpPr/>
          <p:nvPr/>
        </p:nvSpPr>
        <p:spPr>
          <a:xfrm>
            <a:off x="3429000" y="12957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EF3C7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l="-1773" r="-1773"/>
          <a:stretch/>
        </p:blipFill>
        <p:spPr>
          <a:xfrm>
            <a:off x="3552444" y="1399946"/>
            <a:ext cx="133502" cy="17190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3429000" y="1819656"/>
            <a:ext cx="18150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Platform Features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3429000" y="2095805"/>
            <a:ext cx="1162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INTEGRATION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3619195" y="2409444"/>
            <a:ext cx="223662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Feed: Infinite scroll embedded inside Flipkart app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3619195" y="2832811"/>
            <a:ext cx="215981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Recommendations: Personalized based on purchase history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3619195" y="3256178"/>
            <a:ext cx="181691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Player: Autoplay, quality selection, Picture-in-Picture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3619195" y="3678631"/>
            <a:ext cx="20747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Lite: Offline viewing for Tier 2/3 data saving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3619195" y="4101998"/>
            <a:ext cx="222656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 Mode: Strict moderation filter toggle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172200" y="1067105"/>
            <a:ext cx="2781605" cy="3648456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172200" y="1067105"/>
            <a:ext cx="2781605" cy="3840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Shape 30"/>
          <p:cNvSpPr/>
          <p:nvPr/>
        </p:nvSpPr>
        <p:spPr>
          <a:xfrm>
            <a:off x="6362395" y="12957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D1FAE5"/>
          </a:solidFill>
          <a:ln/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6476695" y="1399946"/>
            <a:ext cx="152705" cy="171907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362395" y="1819656"/>
            <a:ext cx="20244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Commerce Features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6362395" y="2095805"/>
            <a:ext cx="1362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MONETIZATION CORE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6553505" y="2409444"/>
            <a:ext cx="194127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Tags: Clickable pins on timeline/objects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6553505" y="2832811"/>
            <a:ext cx="209397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In-Player Cart: Add to cart without stopping video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6553505" y="3256178"/>
            <a:ext cx="18553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1-Click Checkout: Streamlined purchase flow overlay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6553505" y="3678631"/>
            <a:ext cx="192206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Related Items: "Shop the Look" carousel below video</a:t>
            </a:r>
            <a:endParaRPr lang="en-US" sz="900" dirty="0"/>
          </a:p>
        </p:txBody>
      </p:sp>
      <p:sp>
        <p:nvSpPr>
          <p:cNvPr id="43" name="Text 37"/>
          <p:cNvSpPr txBox="1"/>
          <p:nvPr/>
        </p:nvSpPr>
        <p:spPr>
          <a:xfrm>
            <a:off x="6553505" y="4101998"/>
            <a:ext cx="216987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Banners: Real-time countdown deals &amp; coupons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9105595" y="1067105"/>
            <a:ext cx="2781605" cy="3648456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9105595" y="1067105"/>
            <a:ext cx="2781605" cy="3840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6" name="Shape 40"/>
          <p:cNvSpPr/>
          <p:nvPr/>
        </p:nvSpPr>
        <p:spPr>
          <a:xfrm>
            <a:off x="9296705" y="129570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DE9FE"/>
          </a:solidFill>
          <a:ln/>
        </p:spPr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9377172" y="1399946"/>
            <a:ext cx="219456" cy="171907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9296705" y="1819656"/>
            <a:ext cx="19385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Creator Ecosystem</a:t>
            </a:r>
            <a:endParaRPr lang="en-US" sz="1300" dirty="0"/>
          </a:p>
        </p:txBody>
      </p:sp>
      <p:sp>
        <p:nvSpPr>
          <p:cNvPr id="49" name="Text 42"/>
          <p:cNvSpPr txBox="1"/>
          <p:nvPr/>
        </p:nvSpPr>
        <p:spPr>
          <a:xfrm>
            <a:off x="9296705" y="2095805"/>
            <a:ext cx="8485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SIDE</a:t>
            </a:r>
            <a:endParaRPr lang="en-US" sz="900" dirty="0"/>
          </a:p>
        </p:txBody>
      </p:sp>
      <p:sp>
        <p:nvSpPr>
          <p:cNvPr id="50" name="Text 43"/>
          <p:cNvSpPr txBox="1"/>
          <p:nvPr/>
        </p:nvSpPr>
        <p:spPr>
          <a:xfrm>
            <a:off x="9486900" y="2409444"/>
            <a:ext cx="224576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Portal: Self-serve KYC &amp; profile setup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9486900" y="2832811"/>
            <a:ext cx="21890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Model: Payouts per view + affiliate commission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9486900" y="3256178"/>
            <a:ext cx="195041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Analytics: Dashboard for views, clicks, sales attribution</a:t>
            </a:r>
            <a:endParaRPr lang="en-US" sz="900" dirty="0"/>
          </a:p>
        </p:txBody>
      </p:sp>
      <p:sp>
        <p:nvSpPr>
          <p:cNvPr id="53" name="Text 46"/>
          <p:cNvSpPr txBox="1"/>
          <p:nvPr/>
        </p:nvSpPr>
        <p:spPr>
          <a:xfrm>
            <a:off x="9486900" y="3678631"/>
            <a:ext cx="224576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Safety: Auto-check guidelines &amp; content policies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9486900" y="4101998"/>
            <a:ext cx="181691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Tools: Basic editing &amp; product tagging suite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304495" y="4934102"/>
            <a:ext cx="11582705" cy="1162202"/>
          </a:xfrm>
          <a:prstGeom prst="roundRect">
            <a:avLst>
              <a:gd name="adj" fmla="val 5159"/>
            </a:avLst>
          </a:prstGeom>
          <a:solidFill>
            <a:srgbClr val="1F2937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8">
            <a:alphaModFix amt="10000"/>
          </a:blip>
          <a:srcRect/>
          <a:stretch/>
        </p:blipFill>
        <p:spPr>
          <a:xfrm>
            <a:off x="11125505" y="4781398"/>
            <a:ext cx="914400" cy="914400"/>
          </a:xfrm>
          <a:prstGeom prst="rect">
            <a:avLst/>
          </a:prstGeom>
        </p:spPr>
      </p:pic>
      <p:sp>
        <p:nvSpPr>
          <p:cNvPr id="57" name="Shape 49"/>
          <p:cNvSpPr/>
          <p:nvPr/>
        </p:nvSpPr>
        <p:spPr>
          <a:xfrm>
            <a:off x="2677363" y="5286146"/>
            <a:ext cx="9144" cy="45720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58" name="Text 50"/>
          <p:cNvSpPr txBox="1"/>
          <p:nvPr/>
        </p:nvSpPr>
        <p:spPr>
          <a:xfrm>
            <a:off x="495605" y="5315407"/>
            <a:ext cx="10625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59" name="Text 51"/>
          <p:cNvSpPr txBox="1"/>
          <p:nvPr/>
        </p:nvSpPr>
        <p:spPr>
          <a:xfrm>
            <a:off x="495605" y="5591556"/>
            <a:ext cx="1714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Architecture for MVP</a:t>
            </a:r>
            <a:endParaRPr lang="en-US" sz="900" dirty="0"/>
          </a:p>
        </p:txBody>
      </p:sp>
      <p:sp>
        <p:nvSpPr>
          <p:cNvPr id="60" name="Text 52"/>
          <p:cNvSpPr txBox="1"/>
          <p:nvPr/>
        </p:nvSpPr>
        <p:spPr>
          <a:xfrm>
            <a:off x="2984602" y="5105095"/>
            <a:ext cx="12006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&amp; DELIVERY</a:t>
            </a:r>
            <a:endParaRPr lang="en-US" sz="900" dirty="0"/>
          </a:p>
        </p:txBody>
      </p:sp>
      <p:sp>
        <p:nvSpPr>
          <p:cNvPr id="61" name="Shape 53"/>
          <p:cNvSpPr/>
          <p:nvPr/>
        </p:nvSpPr>
        <p:spPr>
          <a:xfrm>
            <a:off x="2984602" y="5333695"/>
            <a:ext cx="1076249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3070555" y="5391302"/>
            <a:ext cx="9811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 MediaConvert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4110228" y="5333695"/>
            <a:ext cx="685800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4196182" y="5391302"/>
            <a:ext cx="5907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Storage</a:t>
            </a:r>
            <a:endParaRPr lang="en-US" sz="800" dirty="0"/>
          </a:p>
        </p:txBody>
      </p:sp>
      <p:sp>
        <p:nvSpPr>
          <p:cNvPr id="65" name="Shape 57"/>
          <p:cNvSpPr/>
          <p:nvPr/>
        </p:nvSpPr>
        <p:spPr>
          <a:xfrm>
            <a:off x="2984602" y="5629046"/>
            <a:ext cx="923544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6" name="Text 58"/>
          <p:cNvSpPr txBox="1"/>
          <p:nvPr/>
        </p:nvSpPr>
        <p:spPr>
          <a:xfrm>
            <a:off x="3070555" y="5686654"/>
            <a:ext cx="8293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CloudFront CDN</a:t>
            </a:r>
            <a:endParaRPr lang="en-US" sz="800" dirty="0"/>
          </a:p>
        </p:txBody>
      </p:sp>
      <p:sp>
        <p:nvSpPr>
          <p:cNvPr id="67" name="Text 59"/>
          <p:cNvSpPr txBox="1"/>
          <p:nvPr/>
        </p:nvSpPr>
        <p:spPr>
          <a:xfrm>
            <a:off x="5219395" y="5105095"/>
            <a:ext cx="8001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SDK</a:t>
            </a:r>
            <a:endParaRPr lang="en-US" sz="900" dirty="0"/>
          </a:p>
        </p:txBody>
      </p:sp>
      <p:sp>
        <p:nvSpPr>
          <p:cNvPr id="68" name="Shape 60"/>
          <p:cNvSpPr/>
          <p:nvPr/>
        </p:nvSpPr>
        <p:spPr>
          <a:xfrm>
            <a:off x="5219395" y="5333695"/>
            <a:ext cx="1095451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9" name="Text 61"/>
          <p:cNvSpPr txBox="1"/>
          <p:nvPr/>
        </p:nvSpPr>
        <p:spPr>
          <a:xfrm>
            <a:off x="5305349" y="5391302"/>
            <a:ext cx="10003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ExoPlayer (Android)</a:t>
            </a:r>
            <a:endParaRPr lang="en-US" sz="800" dirty="0"/>
          </a:p>
        </p:txBody>
      </p:sp>
      <p:sp>
        <p:nvSpPr>
          <p:cNvPr id="70" name="Shape 62"/>
          <p:cNvSpPr/>
          <p:nvPr/>
        </p:nvSpPr>
        <p:spPr>
          <a:xfrm>
            <a:off x="5219395" y="5629046"/>
            <a:ext cx="847649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1" name="Text 63"/>
          <p:cNvSpPr txBox="1"/>
          <p:nvPr/>
        </p:nvSpPr>
        <p:spPr>
          <a:xfrm>
            <a:off x="5305349" y="5686654"/>
            <a:ext cx="7525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AVPlayer (iOS)</a:t>
            </a:r>
            <a:endParaRPr lang="en-US" sz="800" dirty="0"/>
          </a:p>
        </p:txBody>
      </p:sp>
      <p:sp>
        <p:nvSpPr>
          <p:cNvPr id="72" name="Shape 64"/>
          <p:cNvSpPr/>
          <p:nvPr/>
        </p:nvSpPr>
        <p:spPr>
          <a:xfrm>
            <a:off x="6122822" y="5629046"/>
            <a:ext cx="857707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3" name="Text 65"/>
          <p:cNvSpPr txBox="1"/>
          <p:nvPr/>
        </p:nvSpPr>
        <p:spPr>
          <a:xfrm>
            <a:off x="6208776" y="5686654"/>
            <a:ext cx="7626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HLS Streaming</a:t>
            </a:r>
            <a:endParaRPr lang="en-US" sz="800" dirty="0"/>
          </a:p>
        </p:txBody>
      </p:sp>
      <p:sp>
        <p:nvSpPr>
          <p:cNvPr id="74" name="Text 66"/>
          <p:cNvSpPr txBox="1"/>
          <p:nvPr/>
        </p:nvSpPr>
        <p:spPr>
          <a:xfrm>
            <a:off x="7455103" y="5105095"/>
            <a:ext cx="8293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RECS</a:t>
            </a:r>
            <a:endParaRPr lang="en-US" sz="900" dirty="0"/>
          </a:p>
        </p:txBody>
      </p:sp>
      <p:sp>
        <p:nvSpPr>
          <p:cNvPr id="75" name="Shape 67"/>
          <p:cNvSpPr/>
          <p:nvPr/>
        </p:nvSpPr>
        <p:spPr>
          <a:xfrm>
            <a:off x="7455103" y="5333695"/>
            <a:ext cx="819302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6" name="Text 68"/>
          <p:cNvSpPr txBox="1"/>
          <p:nvPr/>
        </p:nvSpPr>
        <p:spPr>
          <a:xfrm>
            <a:off x="7541057" y="5391302"/>
            <a:ext cx="7242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Kafka/Kinesis</a:t>
            </a:r>
            <a:endParaRPr lang="en-US" sz="800" dirty="0"/>
          </a:p>
        </p:txBody>
      </p:sp>
      <p:sp>
        <p:nvSpPr>
          <p:cNvPr id="77" name="Shape 69"/>
          <p:cNvSpPr/>
          <p:nvPr/>
        </p:nvSpPr>
        <p:spPr>
          <a:xfrm>
            <a:off x="8324698" y="5333695"/>
            <a:ext cx="923544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8" name="Text 70"/>
          <p:cNvSpPr txBox="1"/>
          <p:nvPr/>
        </p:nvSpPr>
        <p:spPr>
          <a:xfrm>
            <a:off x="8409737" y="5391302"/>
            <a:ext cx="8293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Ranker</a:t>
            </a:r>
            <a:endParaRPr lang="en-US" sz="800" dirty="0"/>
          </a:p>
        </p:txBody>
      </p:sp>
      <p:sp>
        <p:nvSpPr>
          <p:cNvPr id="79" name="Shape 71"/>
          <p:cNvSpPr/>
          <p:nvPr/>
        </p:nvSpPr>
        <p:spPr>
          <a:xfrm>
            <a:off x="7455103" y="5629046"/>
            <a:ext cx="828446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0" name="Text 72"/>
          <p:cNvSpPr txBox="1"/>
          <p:nvPr/>
        </p:nvSpPr>
        <p:spPr>
          <a:xfrm>
            <a:off x="7541057" y="5686654"/>
            <a:ext cx="7342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Search</a:t>
            </a:r>
            <a:endParaRPr lang="en-US" sz="800" dirty="0"/>
          </a:p>
        </p:txBody>
      </p:sp>
      <p:sp>
        <p:nvSpPr>
          <p:cNvPr id="81" name="Text 73"/>
          <p:cNvSpPr txBox="1"/>
          <p:nvPr/>
        </p:nvSpPr>
        <p:spPr>
          <a:xfrm>
            <a:off x="9689897" y="5105095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&amp; SAFETY</a:t>
            </a:r>
            <a:endParaRPr lang="en-US" sz="900" dirty="0"/>
          </a:p>
        </p:txBody>
      </p:sp>
      <p:sp>
        <p:nvSpPr>
          <p:cNvPr id="82" name="Shape 74"/>
          <p:cNvSpPr/>
          <p:nvPr/>
        </p:nvSpPr>
        <p:spPr>
          <a:xfrm>
            <a:off x="9689897" y="5333695"/>
            <a:ext cx="972007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3" name="Text 75"/>
          <p:cNvSpPr txBox="1"/>
          <p:nvPr/>
        </p:nvSpPr>
        <p:spPr>
          <a:xfrm>
            <a:off x="9775850" y="5391302"/>
            <a:ext cx="8769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Auto-Moderation</a:t>
            </a:r>
            <a:endParaRPr lang="en-US" sz="800" dirty="0"/>
          </a:p>
        </p:txBody>
      </p:sp>
      <p:sp>
        <p:nvSpPr>
          <p:cNvPr id="84" name="Shape 76"/>
          <p:cNvSpPr/>
          <p:nvPr/>
        </p:nvSpPr>
        <p:spPr>
          <a:xfrm>
            <a:off x="10709453" y="5333695"/>
            <a:ext cx="933602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5" name="Text 77"/>
          <p:cNvSpPr txBox="1"/>
          <p:nvPr/>
        </p:nvSpPr>
        <p:spPr>
          <a:xfrm>
            <a:off x="10795406" y="5391302"/>
            <a:ext cx="8385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NSFW Detection</a:t>
            </a:r>
            <a:endParaRPr lang="en-US" sz="800" dirty="0"/>
          </a:p>
        </p:txBody>
      </p:sp>
      <p:sp>
        <p:nvSpPr>
          <p:cNvPr id="86" name="Shape 78"/>
          <p:cNvSpPr/>
          <p:nvPr/>
        </p:nvSpPr>
        <p:spPr>
          <a:xfrm>
            <a:off x="9689897" y="5629046"/>
            <a:ext cx="752551" cy="237744"/>
          </a:xfrm>
          <a:prstGeom prst="roundRect">
            <a:avLst>
              <a:gd name="adj" fmla="val 61538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7" name="Text 79"/>
          <p:cNvSpPr txBox="1"/>
          <p:nvPr/>
        </p:nvSpPr>
        <p:spPr>
          <a:xfrm>
            <a:off x="9775850" y="5686654"/>
            <a:ext cx="6574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Copyright ID</a:t>
            </a:r>
            <a:endParaRPr lang="en-US" sz="800" dirty="0"/>
          </a:p>
        </p:txBody>
      </p:sp>
      <p:sp>
        <p:nvSpPr>
          <p:cNvPr id="89" name="Text 81"/>
          <p:cNvSpPr txBox="1"/>
          <p:nvPr/>
        </p:nvSpPr>
        <p:spPr>
          <a:xfrm>
            <a:off x="11285525" y="6558077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8D0A54B5-08E7-2B93-7580-A77407E1AD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79302" y="6362"/>
            <a:ext cx="598093" cy="5980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209398"/>
            <a:ext cx="972007" cy="3429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329" b="330"/>
          <a:stretch/>
        </p:blipFill>
        <p:spPr>
          <a:xfrm>
            <a:off x="514807" y="267005"/>
            <a:ext cx="857707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8274" y="237744"/>
            <a:ext cx="16669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&amp; KPIs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340303" y="381305"/>
            <a:ext cx="4731106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0B0F0"/>
                </a:solidFill>
              </a:rPr>
              <a:t>Target Users &amp; Success Metrics Framework</a:t>
            </a:r>
            <a:endParaRPr lang="en-US" sz="1300" dirty="0">
              <a:solidFill>
                <a:srgbClr val="00B0F0"/>
              </a:solidFill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678924" y="295351"/>
            <a:ext cx="2157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AFFINITY GLOBAL CASE STUDY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761695"/>
            <a:ext cx="12191695" cy="5639105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8"/>
          <p:cNvSpPr/>
          <p:nvPr/>
        </p:nvSpPr>
        <p:spPr>
          <a:xfrm>
            <a:off x="304495" y="1067105"/>
            <a:ext cx="4076395" cy="1248156"/>
          </a:xfrm>
          <a:prstGeom prst="roundRect">
            <a:avLst>
              <a:gd name="adj" fmla="val 4474"/>
            </a:avLst>
          </a:prstGeom>
          <a:solidFill>
            <a:srgbClr val="2874F0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1630375" y="1100023"/>
            <a:ext cx="133502" cy="1143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39773" y="1080821"/>
            <a:ext cx="1305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STAR METRIC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698955" y="1252728"/>
            <a:ext cx="16294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15-20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1558138" y="1824228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BEA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Mins / User / Day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846174" y="2147926"/>
            <a:ext cx="10771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DBF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by Month 6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04495" y="2505456"/>
            <a:ext cx="4076395" cy="3590849"/>
          </a:xfrm>
          <a:prstGeom prst="roundRect">
            <a:avLst>
              <a:gd name="adj" fmla="val 540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5605" y="3038551"/>
            <a:ext cx="3696005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5605" y="2743200"/>
            <a:ext cx="171907" cy="17190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80898" y="2695651"/>
            <a:ext cx="120517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95605" y="3209544"/>
            <a:ext cx="21195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Primary: "The Aspiring Gen-Z"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016606" y="3204972"/>
            <a:ext cx="1171346" cy="181051"/>
          </a:xfrm>
          <a:prstGeom prst="roundRect">
            <a:avLst>
              <a:gd name="adj" fmla="val 106327"/>
            </a:avLst>
          </a:prstGeom>
          <a:solidFill>
            <a:srgbClr val="DBEAFE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3073298" y="3233318"/>
            <a:ext cx="11338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200M+ ADDRESSABLE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495605" y="3467405"/>
            <a:ext cx="3696005" cy="761695"/>
          </a:xfrm>
          <a:prstGeom prst="roundRect">
            <a:avLst>
              <a:gd name="adj" fmla="val 6002"/>
            </a:avLst>
          </a:prstGeom>
          <a:solidFill>
            <a:srgbClr val="EFF6FF"/>
          </a:solidFill>
          <a:ln/>
        </p:spPr>
      </p:sp>
      <p:sp>
        <p:nvSpPr>
          <p:cNvPr id="25" name="Shape 20"/>
          <p:cNvSpPr/>
          <p:nvPr/>
        </p:nvSpPr>
        <p:spPr>
          <a:xfrm>
            <a:off x="609905" y="3581705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685800" y="3662172"/>
            <a:ext cx="171907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47902" y="3581705"/>
            <a:ext cx="22768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Demographics: 18-30 yrs, Tier 2/3 Cities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047902" y="3771900"/>
            <a:ext cx="31153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Behavior: Price-sensitive, high short-form consumption.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047902" y="3962095"/>
            <a:ext cx="26389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Point: Browses but buys rarely (Low CVR).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495605" y="4466844"/>
            <a:ext cx="15672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Ecosystem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95605" y="4724705"/>
            <a:ext cx="3696005" cy="552298"/>
          </a:xfrm>
          <a:prstGeom prst="roundRect">
            <a:avLst>
              <a:gd name="adj" fmla="val 11418"/>
            </a:avLst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80644" y="4848149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EDE9FE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 l="-1911" r="-1911"/>
          <a:stretch/>
        </p:blipFill>
        <p:spPr>
          <a:xfrm>
            <a:off x="666598" y="4943246"/>
            <a:ext cx="133502" cy="1143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00354" y="4809744"/>
            <a:ext cx="1047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Creators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000354" y="4981651"/>
            <a:ext cx="2257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Seeking monetization &amp; reach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495605" y="5352898"/>
            <a:ext cx="3696005" cy="552298"/>
          </a:xfrm>
          <a:prstGeom prst="roundRect">
            <a:avLst>
              <a:gd name="adj" fmla="val 11418"/>
            </a:avLst>
          </a:prstGeom>
          <a:noFill/>
          <a:ln w="12700">
            <a:solidFill>
              <a:srgbClr val="F3F4F6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 l="-1911" r="-1911"/>
          <a:stretch/>
        </p:blipFill>
        <p:spPr>
          <a:xfrm>
            <a:off x="666598" y="5572354"/>
            <a:ext cx="133502" cy="1143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000354" y="5438851"/>
            <a:ext cx="1239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Advertisers / Brands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000354" y="5609844"/>
            <a:ext cx="2315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Seeking high-intent audiences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4604004" y="1086307"/>
            <a:ext cx="1696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 Metrics</a:t>
            </a:r>
            <a:endParaRPr lang="en-US" sz="1500" dirty="0"/>
          </a:p>
        </p:txBody>
      </p:sp>
      <p:sp>
        <p:nvSpPr>
          <p:cNvPr id="41" name="Shape 33"/>
          <p:cNvSpPr/>
          <p:nvPr/>
        </p:nvSpPr>
        <p:spPr>
          <a:xfrm>
            <a:off x="7184441" y="1086307"/>
            <a:ext cx="914400" cy="22860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7260336" y="1123798"/>
            <a:ext cx="8485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 Targets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4604004" y="1485900"/>
            <a:ext cx="3495751" cy="205740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4604004" y="1485900"/>
            <a:ext cx="3495751" cy="384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4756709" y="1686154"/>
            <a:ext cx="15764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1: ENGAGEMENT</a:t>
            </a:r>
            <a:endParaRPr lang="en-US" sz="10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790688" y="1695298"/>
            <a:ext cx="152705" cy="152705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4756709" y="1981505"/>
            <a:ext cx="1543507" cy="647395"/>
          </a:xfrm>
          <a:prstGeom prst="roundRect">
            <a:avLst>
              <a:gd name="adj" fmla="val 8308"/>
            </a:avLst>
          </a:prstGeom>
          <a:solidFill>
            <a:srgbClr val="FFFFFF"/>
          </a:solidFill>
          <a:ln/>
        </p:spPr>
      </p:sp>
      <p:sp>
        <p:nvSpPr>
          <p:cNvPr id="48" name="Shape 39"/>
          <p:cNvSpPr/>
          <p:nvPr/>
        </p:nvSpPr>
        <p:spPr>
          <a:xfrm>
            <a:off x="4756709" y="1981505"/>
            <a:ext cx="38405" cy="647395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49" name="Text 40"/>
          <p:cNvSpPr txBox="1"/>
          <p:nvPr/>
        </p:nvSpPr>
        <p:spPr>
          <a:xfrm>
            <a:off x="4908499" y="2076602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DAU/MAU UPLIFT</a:t>
            </a:r>
            <a:endParaRPr lang="en-US" sz="1200" dirty="0"/>
          </a:p>
        </p:txBody>
      </p:sp>
      <p:sp>
        <p:nvSpPr>
          <p:cNvPr id="50" name="Text 41"/>
          <p:cNvSpPr txBox="1"/>
          <p:nvPr/>
        </p:nvSpPr>
        <p:spPr>
          <a:xfrm>
            <a:off x="4908499" y="230520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+8-10%</a:t>
            </a:r>
            <a:endParaRPr lang="en-US" sz="1500" dirty="0"/>
          </a:p>
        </p:txBody>
      </p:sp>
      <p:sp>
        <p:nvSpPr>
          <p:cNvPr id="51" name="Shape 42"/>
          <p:cNvSpPr/>
          <p:nvPr/>
        </p:nvSpPr>
        <p:spPr>
          <a:xfrm>
            <a:off x="6407201" y="1981505"/>
            <a:ext cx="1543507" cy="647395"/>
          </a:xfrm>
          <a:prstGeom prst="roundRect">
            <a:avLst>
              <a:gd name="adj" fmla="val 8308"/>
            </a:avLst>
          </a:prstGeom>
          <a:solidFill>
            <a:srgbClr val="FFFFFF"/>
          </a:solidFill>
          <a:ln/>
        </p:spPr>
      </p:sp>
      <p:sp>
        <p:nvSpPr>
          <p:cNvPr id="52" name="Shape 43"/>
          <p:cNvSpPr/>
          <p:nvPr/>
        </p:nvSpPr>
        <p:spPr>
          <a:xfrm>
            <a:off x="6407201" y="1981505"/>
            <a:ext cx="38405" cy="647395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6558991" y="2076602"/>
            <a:ext cx="1143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SESSION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6558991" y="2305202"/>
            <a:ext cx="95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8-12 min</a:t>
            </a:r>
            <a:endParaRPr lang="en-US" sz="1500" dirty="0"/>
          </a:p>
        </p:txBody>
      </p:sp>
      <p:sp>
        <p:nvSpPr>
          <p:cNvPr id="55" name="Shape 46"/>
          <p:cNvSpPr/>
          <p:nvPr/>
        </p:nvSpPr>
        <p:spPr>
          <a:xfrm>
            <a:off x="4756709" y="2743200"/>
            <a:ext cx="3191256" cy="647395"/>
          </a:xfrm>
          <a:prstGeom prst="roundRect">
            <a:avLst>
              <a:gd name="adj" fmla="val 8308"/>
            </a:avLst>
          </a:prstGeom>
          <a:solidFill>
            <a:srgbClr val="FFFFFF"/>
          </a:solidFill>
          <a:ln/>
        </p:spPr>
      </p:sp>
      <p:sp>
        <p:nvSpPr>
          <p:cNvPr id="56" name="Shape 47"/>
          <p:cNvSpPr/>
          <p:nvPr/>
        </p:nvSpPr>
        <p:spPr>
          <a:xfrm>
            <a:off x="4756709" y="2743200"/>
            <a:ext cx="38405" cy="647395"/>
          </a:xfrm>
          <a:prstGeom prst="rect">
            <a:avLst/>
          </a:prstGeom>
          <a:solidFill>
            <a:srgbClr val="2874F0"/>
          </a:solidFill>
          <a:ln/>
        </p:spPr>
      </p:sp>
      <p:sp>
        <p:nvSpPr>
          <p:cNvPr id="57" name="Text 48"/>
          <p:cNvSpPr txBox="1"/>
          <p:nvPr/>
        </p:nvSpPr>
        <p:spPr>
          <a:xfrm>
            <a:off x="4908499" y="2838298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(D7 / D30)</a:t>
            </a:r>
            <a:endParaRPr lang="en-US" sz="1200" dirty="0"/>
          </a:p>
        </p:txBody>
      </p:sp>
      <p:sp>
        <p:nvSpPr>
          <p:cNvPr id="58" name="Text 49"/>
          <p:cNvSpPr txBox="1"/>
          <p:nvPr/>
        </p:nvSpPr>
        <p:spPr>
          <a:xfrm>
            <a:off x="4908499" y="3076956"/>
            <a:ext cx="10716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35% / 20%</a:t>
            </a:r>
            <a:endParaRPr lang="en-US" sz="1300" dirty="0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10"/>
          <a:srcRect l="-50" r="-50"/>
          <a:stretch/>
        </p:blipFill>
        <p:spPr>
          <a:xfrm>
            <a:off x="6952183" y="3010205"/>
            <a:ext cx="914400" cy="304495"/>
          </a:xfrm>
          <a:prstGeom prst="rect">
            <a:avLst/>
          </a:prstGeom>
        </p:spPr>
      </p:pic>
      <p:sp>
        <p:nvSpPr>
          <p:cNvPr id="60" name="Shape 50"/>
          <p:cNvSpPr/>
          <p:nvPr/>
        </p:nvSpPr>
        <p:spPr>
          <a:xfrm>
            <a:off x="4604004" y="3696005"/>
            <a:ext cx="3495751" cy="2115007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1"/>
          <p:cNvSpPr/>
          <p:nvPr/>
        </p:nvSpPr>
        <p:spPr>
          <a:xfrm>
            <a:off x="4604004" y="3696005"/>
            <a:ext cx="3495751" cy="3840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2" name="Text 52"/>
          <p:cNvSpPr txBox="1"/>
          <p:nvPr/>
        </p:nvSpPr>
        <p:spPr>
          <a:xfrm>
            <a:off x="4756709" y="3895344"/>
            <a:ext cx="13103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2: BUSINESS</a:t>
            </a:r>
            <a:endParaRPr lang="en-US" sz="1000" dirty="0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11"/>
          <a:srcRect t="-43" b="-43"/>
          <a:stretch/>
        </p:blipFill>
        <p:spPr>
          <a:xfrm>
            <a:off x="7809890" y="3905402"/>
            <a:ext cx="133502" cy="152705"/>
          </a:xfrm>
          <a:prstGeom prst="rect">
            <a:avLst/>
          </a:prstGeom>
        </p:spPr>
      </p:pic>
      <p:sp>
        <p:nvSpPr>
          <p:cNvPr id="64" name="Shape 53"/>
          <p:cNvSpPr/>
          <p:nvPr/>
        </p:nvSpPr>
        <p:spPr>
          <a:xfrm>
            <a:off x="4756709" y="4190695"/>
            <a:ext cx="3191256" cy="705002"/>
          </a:xfrm>
          <a:prstGeom prst="roundRect">
            <a:avLst>
              <a:gd name="adj" fmla="val 7011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5" name="Text 54"/>
          <p:cNvSpPr txBox="1"/>
          <p:nvPr/>
        </p:nvSpPr>
        <p:spPr>
          <a:xfrm>
            <a:off x="4842662" y="4295851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SHOPPABLE GMV</a:t>
            </a:r>
            <a:endParaRPr lang="en-US" sz="1200" dirty="0"/>
          </a:p>
        </p:txBody>
      </p:sp>
      <p:sp>
        <p:nvSpPr>
          <p:cNvPr id="66" name="Text 55"/>
          <p:cNvSpPr txBox="1"/>
          <p:nvPr/>
        </p:nvSpPr>
        <p:spPr>
          <a:xfrm>
            <a:off x="4842662" y="4515307"/>
            <a:ext cx="1047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₹750 Cr</a:t>
            </a:r>
            <a:endParaRPr lang="en-US" sz="1800" dirty="0"/>
          </a:p>
        </p:txBody>
      </p:sp>
      <p:sp>
        <p:nvSpPr>
          <p:cNvPr id="67" name="Text 56"/>
          <p:cNvSpPr txBox="1"/>
          <p:nvPr/>
        </p:nvSpPr>
        <p:spPr>
          <a:xfrm>
            <a:off x="6827825" y="4315054"/>
            <a:ext cx="1153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68" name="Text 57"/>
          <p:cNvSpPr txBox="1"/>
          <p:nvPr/>
        </p:nvSpPr>
        <p:spPr>
          <a:xfrm>
            <a:off x="7385609" y="4552798"/>
            <a:ext cx="6053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3-5%</a:t>
            </a:r>
            <a:endParaRPr lang="en-US" sz="1300" dirty="0"/>
          </a:p>
        </p:txBody>
      </p:sp>
      <p:sp>
        <p:nvSpPr>
          <p:cNvPr id="69" name="Shape 58"/>
          <p:cNvSpPr/>
          <p:nvPr/>
        </p:nvSpPr>
        <p:spPr>
          <a:xfrm>
            <a:off x="4756709" y="5009998"/>
            <a:ext cx="3191256" cy="647395"/>
          </a:xfrm>
          <a:prstGeom prst="roundRect">
            <a:avLst>
              <a:gd name="adj" fmla="val 8308"/>
            </a:avLst>
          </a:prstGeom>
          <a:solidFill>
            <a:srgbClr val="FFFFFF"/>
          </a:solidFill>
          <a:ln/>
        </p:spPr>
      </p:sp>
      <p:sp>
        <p:nvSpPr>
          <p:cNvPr id="70" name="Shape 59"/>
          <p:cNvSpPr/>
          <p:nvPr/>
        </p:nvSpPr>
        <p:spPr>
          <a:xfrm>
            <a:off x="4756709" y="5009998"/>
            <a:ext cx="38405" cy="64739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1" name="Text 60"/>
          <p:cNvSpPr txBox="1"/>
          <p:nvPr/>
        </p:nvSpPr>
        <p:spPr>
          <a:xfrm>
            <a:off x="4908499" y="5105095"/>
            <a:ext cx="2124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 REVENUE PROJECTION</a:t>
            </a:r>
            <a:endParaRPr lang="en-US" sz="1200" dirty="0"/>
          </a:p>
        </p:txBody>
      </p:sp>
      <p:sp>
        <p:nvSpPr>
          <p:cNvPr id="72" name="Text 61"/>
          <p:cNvSpPr txBox="1"/>
          <p:nvPr/>
        </p:nvSpPr>
        <p:spPr>
          <a:xfrm>
            <a:off x="4908499" y="5333695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₹200-300 Cr</a:t>
            </a:r>
            <a:endParaRPr lang="en-US" sz="1500" dirty="0"/>
          </a:p>
        </p:txBody>
      </p:sp>
      <p:pic>
        <p:nvPicPr>
          <p:cNvPr id="73" name="Image 9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7229246" y="5443423"/>
            <a:ext cx="85954" cy="114300"/>
          </a:xfrm>
          <a:prstGeom prst="rect">
            <a:avLst/>
          </a:prstGeom>
        </p:spPr>
      </p:pic>
      <p:sp>
        <p:nvSpPr>
          <p:cNvPr id="74" name="Text 62"/>
          <p:cNvSpPr txBox="1"/>
          <p:nvPr/>
        </p:nvSpPr>
        <p:spPr>
          <a:xfrm>
            <a:off x="7315200" y="5429707"/>
            <a:ext cx="638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CPM</a:t>
            </a:r>
            <a:endParaRPr lang="en-US" sz="900" dirty="0"/>
          </a:p>
        </p:txBody>
      </p:sp>
      <p:sp>
        <p:nvSpPr>
          <p:cNvPr id="75" name="Shape 63"/>
          <p:cNvSpPr/>
          <p:nvPr/>
        </p:nvSpPr>
        <p:spPr>
          <a:xfrm>
            <a:off x="4604004" y="5962802"/>
            <a:ext cx="3495751" cy="418795"/>
          </a:xfrm>
          <a:prstGeom prst="roundRect">
            <a:avLst>
              <a:gd name="adj" fmla="val 39698"/>
            </a:avLst>
          </a:prstGeom>
          <a:solidFill>
            <a:srgbClr val="F3F4F6"/>
          </a:solidFill>
          <a:ln/>
        </p:spPr>
      </p:sp>
      <p:sp>
        <p:nvSpPr>
          <p:cNvPr id="76" name="Shape 64"/>
          <p:cNvSpPr/>
          <p:nvPr/>
        </p:nvSpPr>
        <p:spPr>
          <a:xfrm>
            <a:off x="4604004" y="5962802"/>
            <a:ext cx="3495751" cy="38405"/>
          </a:xfrm>
          <a:prstGeom prst="rect">
            <a:avLst/>
          </a:prstGeom>
          <a:solidFill>
            <a:srgbClr val="6B7280"/>
          </a:solidFill>
          <a:ln/>
        </p:spPr>
      </p:sp>
      <p:pic>
        <p:nvPicPr>
          <p:cNvPr id="77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718304" y="6129223"/>
            <a:ext cx="114300" cy="114300"/>
          </a:xfrm>
          <a:prstGeom prst="rect">
            <a:avLst/>
          </a:prstGeom>
        </p:spPr>
      </p:pic>
      <p:sp>
        <p:nvSpPr>
          <p:cNvPr id="78" name="Text 65"/>
          <p:cNvSpPr txBox="1"/>
          <p:nvPr/>
        </p:nvSpPr>
        <p:spPr>
          <a:xfrm>
            <a:off x="4871009" y="6115507"/>
            <a:ext cx="685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Time:</a:t>
            </a:r>
            <a:endParaRPr lang="en-US" sz="900" dirty="0"/>
          </a:p>
        </p:txBody>
      </p:sp>
      <p:sp>
        <p:nvSpPr>
          <p:cNvPr id="79" name="Text 66"/>
          <p:cNvSpPr txBox="1"/>
          <p:nvPr/>
        </p:nvSpPr>
        <p:spPr>
          <a:xfrm>
            <a:off x="5461711" y="6115507"/>
            <a:ext cx="3054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&lt;2s</a:t>
            </a:r>
            <a:endParaRPr lang="en-US" sz="900" dirty="0"/>
          </a:p>
        </p:txBody>
      </p:sp>
      <p:pic>
        <p:nvPicPr>
          <p:cNvPr id="80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223760" y="6129223"/>
            <a:ext cx="114300" cy="114300"/>
          </a:xfrm>
          <a:prstGeom prst="rect">
            <a:avLst/>
          </a:prstGeom>
        </p:spPr>
      </p:pic>
      <p:sp>
        <p:nvSpPr>
          <p:cNvPr id="81" name="Text 67"/>
          <p:cNvSpPr txBox="1"/>
          <p:nvPr/>
        </p:nvSpPr>
        <p:spPr>
          <a:xfrm>
            <a:off x="7376465" y="6115507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Buffer:</a:t>
            </a:r>
            <a:endParaRPr lang="en-US" sz="900" dirty="0"/>
          </a:p>
        </p:txBody>
      </p:sp>
      <p:sp>
        <p:nvSpPr>
          <p:cNvPr id="82" name="Text 68"/>
          <p:cNvSpPr txBox="1"/>
          <p:nvPr/>
        </p:nvSpPr>
        <p:spPr>
          <a:xfrm>
            <a:off x="7737653" y="6115507"/>
            <a:ext cx="333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&lt;1%</a:t>
            </a:r>
            <a:endParaRPr lang="en-US" sz="900" dirty="0"/>
          </a:p>
        </p:txBody>
      </p:sp>
      <p:sp>
        <p:nvSpPr>
          <p:cNvPr id="83" name="Text 69"/>
          <p:cNvSpPr txBox="1"/>
          <p:nvPr/>
        </p:nvSpPr>
        <p:spPr>
          <a:xfrm>
            <a:off x="8323783" y="1086307"/>
            <a:ext cx="1991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Prioritization Matrix</a:t>
            </a:r>
            <a:endParaRPr lang="en-US" sz="1500" dirty="0"/>
          </a:p>
        </p:txBody>
      </p:sp>
      <p:sp>
        <p:nvSpPr>
          <p:cNvPr id="84" name="Shape 70"/>
          <p:cNvSpPr/>
          <p:nvPr/>
        </p:nvSpPr>
        <p:spPr>
          <a:xfrm>
            <a:off x="8323783" y="1485900"/>
            <a:ext cx="2104949" cy="1466698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85" name="Shape 71"/>
          <p:cNvSpPr/>
          <p:nvPr/>
        </p:nvSpPr>
        <p:spPr>
          <a:xfrm>
            <a:off x="8448142" y="1399946"/>
            <a:ext cx="1447495" cy="200254"/>
          </a:xfrm>
          <a:prstGeom prst="roundRect">
            <a:avLst>
              <a:gd name="adj" fmla="val 260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6" name="Text 72"/>
          <p:cNvSpPr txBox="1"/>
          <p:nvPr/>
        </p:nvSpPr>
        <p:spPr>
          <a:xfrm>
            <a:off x="8533181" y="1438351"/>
            <a:ext cx="13533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MVP (0-90 DAYS)</a:t>
            </a:r>
            <a:endParaRPr lang="en-US" sz="800" dirty="0"/>
          </a:p>
        </p:txBody>
      </p:sp>
      <p:sp>
        <p:nvSpPr>
          <p:cNvPr id="87" name="Text 73"/>
          <p:cNvSpPr txBox="1"/>
          <p:nvPr/>
        </p:nvSpPr>
        <p:spPr>
          <a:xfrm>
            <a:off x="8485632" y="1723644"/>
            <a:ext cx="1686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IMPACT / LOW EFFORT</a:t>
            </a:r>
            <a:endParaRPr lang="en-US" sz="900" dirty="0"/>
          </a:p>
        </p:txBody>
      </p:sp>
      <p:pic>
        <p:nvPicPr>
          <p:cNvPr id="88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105949" y="1723644"/>
            <a:ext cx="152705" cy="152705"/>
          </a:xfrm>
          <a:prstGeom prst="rect">
            <a:avLst/>
          </a:prstGeom>
        </p:spPr>
      </p:pic>
      <p:pic>
        <p:nvPicPr>
          <p:cNvPr id="89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524037" y="1971446"/>
            <a:ext cx="114300" cy="114300"/>
          </a:xfrm>
          <a:prstGeom prst="rect">
            <a:avLst/>
          </a:prstGeom>
        </p:spPr>
      </p:pic>
      <p:sp>
        <p:nvSpPr>
          <p:cNvPr id="90" name="Text 74"/>
          <p:cNvSpPr txBox="1"/>
          <p:nvPr/>
        </p:nvSpPr>
        <p:spPr>
          <a:xfrm>
            <a:off x="8714232" y="1952244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Short-form Feed</a:t>
            </a:r>
            <a:endParaRPr lang="en-US" sz="900" dirty="0"/>
          </a:p>
        </p:txBody>
      </p:sp>
      <p:pic>
        <p:nvPicPr>
          <p:cNvPr id="91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524037" y="2200046"/>
            <a:ext cx="114300" cy="114300"/>
          </a:xfrm>
          <a:prstGeom prst="rect">
            <a:avLst/>
          </a:prstGeom>
        </p:spPr>
      </p:pic>
      <p:sp>
        <p:nvSpPr>
          <p:cNvPr id="92" name="Text 75"/>
          <p:cNvSpPr txBox="1"/>
          <p:nvPr/>
        </p:nvSpPr>
        <p:spPr>
          <a:xfrm>
            <a:off x="8714232" y="2180844"/>
            <a:ext cx="14200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Shoppable Product Tags</a:t>
            </a:r>
            <a:endParaRPr lang="en-US" sz="900" dirty="0"/>
          </a:p>
        </p:txBody>
      </p:sp>
      <p:pic>
        <p:nvPicPr>
          <p:cNvPr id="93" name="Image 15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524037" y="2428646"/>
            <a:ext cx="114300" cy="114300"/>
          </a:xfrm>
          <a:prstGeom prst="rect">
            <a:avLst/>
          </a:prstGeom>
        </p:spPr>
      </p:pic>
      <p:sp>
        <p:nvSpPr>
          <p:cNvPr id="94" name="Text 76"/>
          <p:cNvSpPr txBox="1"/>
          <p:nvPr/>
        </p:nvSpPr>
        <p:spPr>
          <a:xfrm>
            <a:off x="8714232" y="2409444"/>
            <a:ext cx="1638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Recommendation Algo</a:t>
            </a:r>
            <a:endParaRPr lang="en-US" sz="900" dirty="0"/>
          </a:p>
        </p:txBody>
      </p:sp>
      <p:pic>
        <p:nvPicPr>
          <p:cNvPr id="95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524037" y="2657246"/>
            <a:ext cx="114300" cy="114300"/>
          </a:xfrm>
          <a:prstGeom prst="rect">
            <a:avLst/>
          </a:prstGeom>
        </p:spPr>
      </p:pic>
      <p:sp>
        <p:nvSpPr>
          <p:cNvPr id="96" name="Text 77"/>
          <p:cNvSpPr txBox="1"/>
          <p:nvPr/>
        </p:nvSpPr>
        <p:spPr>
          <a:xfrm>
            <a:off x="8714232" y="2638044"/>
            <a:ext cx="1515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Onboarding Portal</a:t>
            </a:r>
            <a:endParaRPr lang="en-US" sz="900" dirty="0"/>
          </a:p>
        </p:txBody>
      </p:sp>
      <p:sp>
        <p:nvSpPr>
          <p:cNvPr id="97" name="Shape 78"/>
          <p:cNvSpPr/>
          <p:nvPr/>
        </p:nvSpPr>
        <p:spPr>
          <a:xfrm>
            <a:off x="8323783" y="3105302"/>
            <a:ext cx="2104949" cy="1466698"/>
          </a:xfrm>
          <a:prstGeom prst="roundRect">
            <a:avLst>
              <a:gd name="adj" fmla="val 2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98" name="Shape 79"/>
          <p:cNvSpPr/>
          <p:nvPr/>
        </p:nvSpPr>
        <p:spPr>
          <a:xfrm>
            <a:off x="8448142" y="3019349"/>
            <a:ext cx="1580998" cy="200254"/>
          </a:xfrm>
          <a:prstGeom prst="roundRect">
            <a:avLst>
              <a:gd name="adj" fmla="val 260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9" name="Text 80"/>
          <p:cNvSpPr txBox="1"/>
          <p:nvPr/>
        </p:nvSpPr>
        <p:spPr>
          <a:xfrm>
            <a:off x="8533181" y="3057754"/>
            <a:ext cx="14859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 GROWTH (3-6 MOS)</a:t>
            </a:r>
            <a:endParaRPr lang="en-US" sz="800" dirty="0"/>
          </a:p>
        </p:txBody>
      </p:sp>
      <p:sp>
        <p:nvSpPr>
          <p:cNvPr id="100" name="Text 81"/>
          <p:cNvSpPr txBox="1"/>
          <p:nvPr/>
        </p:nvSpPr>
        <p:spPr>
          <a:xfrm>
            <a:off x="8485632" y="3343046"/>
            <a:ext cx="1038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IMPACT</a:t>
            </a:r>
            <a:endParaRPr lang="en-US" sz="900" dirty="0"/>
          </a:p>
        </p:txBody>
      </p:sp>
      <p:pic>
        <p:nvPicPr>
          <p:cNvPr id="101" name="Image 17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105949" y="3343046"/>
            <a:ext cx="152705" cy="152705"/>
          </a:xfrm>
          <a:prstGeom prst="rect">
            <a:avLst/>
          </a:prstGeom>
        </p:spPr>
      </p:pic>
      <p:pic>
        <p:nvPicPr>
          <p:cNvPr id="102" name="Image 18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524037" y="3590849"/>
            <a:ext cx="114300" cy="114300"/>
          </a:xfrm>
          <a:prstGeom prst="rect">
            <a:avLst/>
          </a:prstGeom>
        </p:spPr>
      </p:pic>
      <p:sp>
        <p:nvSpPr>
          <p:cNvPr id="103" name="Text 82"/>
          <p:cNvSpPr txBox="1"/>
          <p:nvPr/>
        </p:nvSpPr>
        <p:spPr>
          <a:xfrm>
            <a:off x="8714232" y="3571646"/>
            <a:ext cx="1334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Commerce Events</a:t>
            </a:r>
            <a:endParaRPr lang="en-US" sz="900" dirty="0"/>
          </a:p>
        </p:txBody>
      </p:sp>
      <p:pic>
        <p:nvPicPr>
          <p:cNvPr id="104" name="Image 19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524037" y="3819449"/>
            <a:ext cx="114300" cy="114300"/>
          </a:xfrm>
          <a:prstGeom prst="rect">
            <a:avLst/>
          </a:prstGeom>
        </p:spPr>
      </p:pic>
      <p:sp>
        <p:nvSpPr>
          <p:cNvPr id="105" name="Text 83"/>
          <p:cNvSpPr txBox="1"/>
          <p:nvPr/>
        </p:nvSpPr>
        <p:spPr>
          <a:xfrm>
            <a:off x="8714232" y="3800246"/>
            <a:ext cx="15627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Content Licensing</a:t>
            </a:r>
            <a:endParaRPr lang="en-US" sz="900" dirty="0"/>
          </a:p>
        </p:txBody>
      </p:sp>
      <p:pic>
        <p:nvPicPr>
          <p:cNvPr id="106" name="Image 20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524037" y="4048049"/>
            <a:ext cx="114300" cy="114300"/>
          </a:xfrm>
          <a:prstGeom prst="rect">
            <a:avLst/>
          </a:prstGeom>
        </p:spPr>
      </p:pic>
      <p:sp>
        <p:nvSpPr>
          <p:cNvPr id="107" name="Text 84"/>
          <p:cNvSpPr txBox="1"/>
          <p:nvPr/>
        </p:nvSpPr>
        <p:spPr>
          <a:xfrm>
            <a:off x="8714232" y="4028846"/>
            <a:ext cx="1438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Brand-Sponsored Shows</a:t>
            </a:r>
            <a:endParaRPr lang="en-US" sz="900" dirty="0"/>
          </a:p>
        </p:txBody>
      </p:sp>
      <p:pic>
        <p:nvPicPr>
          <p:cNvPr id="108" name="Image 21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524037" y="4276649"/>
            <a:ext cx="114300" cy="114300"/>
          </a:xfrm>
          <a:prstGeom prst="rect">
            <a:avLst/>
          </a:prstGeom>
        </p:spPr>
      </p:pic>
      <p:sp>
        <p:nvSpPr>
          <p:cNvPr id="109" name="Text 85"/>
          <p:cNvSpPr txBox="1"/>
          <p:nvPr/>
        </p:nvSpPr>
        <p:spPr>
          <a:xfrm>
            <a:off x="8714232" y="4257446"/>
            <a:ext cx="1086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Downloads</a:t>
            </a:r>
            <a:endParaRPr lang="en-US" sz="900" dirty="0"/>
          </a:p>
        </p:txBody>
      </p:sp>
      <p:sp>
        <p:nvSpPr>
          <p:cNvPr id="110" name="Shape 86"/>
          <p:cNvSpPr/>
          <p:nvPr/>
        </p:nvSpPr>
        <p:spPr>
          <a:xfrm>
            <a:off x="8323783" y="4724705"/>
            <a:ext cx="2104949" cy="1238098"/>
          </a:xfrm>
          <a:prstGeom prst="roundRect">
            <a:avLst>
              <a:gd name="adj" fmla="val 3409"/>
            </a:avLst>
          </a:prstGeom>
          <a:solidFill>
            <a:srgbClr val="F9FAFB">
              <a:alpha val="8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1" name="Shape 87"/>
          <p:cNvSpPr/>
          <p:nvPr/>
        </p:nvSpPr>
        <p:spPr>
          <a:xfrm>
            <a:off x="8448142" y="4638751"/>
            <a:ext cx="1419149" cy="200254"/>
          </a:xfrm>
          <a:prstGeom prst="roundRect">
            <a:avLst>
              <a:gd name="adj" fmla="val 260926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2" name="Text 88"/>
          <p:cNvSpPr txBox="1"/>
          <p:nvPr/>
        </p:nvSpPr>
        <p:spPr>
          <a:xfrm>
            <a:off x="8533181" y="4677156"/>
            <a:ext cx="13240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B556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 SCALE (6+ MOS)</a:t>
            </a:r>
            <a:endParaRPr lang="en-US" sz="800" dirty="0"/>
          </a:p>
        </p:txBody>
      </p:sp>
      <p:sp>
        <p:nvSpPr>
          <p:cNvPr id="113" name="Text 89"/>
          <p:cNvSpPr txBox="1"/>
          <p:nvPr/>
        </p:nvSpPr>
        <p:spPr>
          <a:xfrm>
            <a:off x="8485632" y="4962449"/>
            <a:ext cx="15051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COST / LONG TERM</a:t>
            </a:r>
            <a:endParaRPr lang="en-US" sz="900" dirty="0"/>
          </a:p>
        </p:txBody>
      </p:sp>
      <p:pic>
        <p:nvPicPr>
          <p:cNvPr id="114" name="Image 22" descr="preencoded.png"/>
          <p:cNvPicPr>
            <a:picLocks noChangeAspect="1"/>
          </p:cNvPicPr>
          <p:nvPr/>
        </p:nvPicPr>
        <p:blipFill>
          <a:blip r:embed="rId19">
            <a:alphaModFix amt="80000"/>
          </a:blip>
          <a:srcRect l="-33" r="-33"/>
          <a:stretch/>
        </p:blipFill>
        <p:spPr>
          <a:xfrm>
            <a:off x="10086746" y="4962449"/>
            <a:ext cx="171907" cy="152705"/>
          </a:xfrm>
          <a:prstGeom prst="rect">
            <a:avLst/>
          </a:prstGeom>
        </p:spPr>
      </p:pic>
      <p:pic>
        <p:nvPicPr>
          <p:cNvPr id="115" name="Image 23" descr="preencoded.png"/>
          <p:cNvPicPr>
            <a:picLocks noChangeAspect="1"/>
          </p:cNvPicPr>
          <p:nvPr/>
        </p:nvPicPr>
        <p:blipFill>
          <a:blip r:embed="rId20">
            <a:alphaModFix amt="80000"/>
          </a:blip>
          <a:srcRect/>
          <a:stretch/>
        </p:blipFill>
        <p:spPr>
          <a:xfrm>
            <a:off x="8524037" y="5210251"/>
            <a:ext cx="114300" cy="114300"/>
          </a:xfrm>
          <a:prstGeom prst="rect">
            <a:avLst/>
          </a:prstGeom>
        </p:spPr>
      </p:pic>
      <p:sp>
        <p:nvSpPr>
          <p:cNvPr id="116" name="Text 90"/>
          <p:cNvSpPr txBox="1"/>
          <p:nvPr/>
        </p:nvSpPr>
        <p:spPr>
          <a:xfrm>
            <a:off x="8714232" y="5191049"/>
            <a:ext cx="11530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Web Series</a:t>
            </a:r>
            <a:endParaRPr lang="en-US" sz="900" dirty="0"/>
          </a:p>
        </p:txBody>
      </p:sp>
      <p:pic>
        <p:nvPicPr>
          <p:cNvPr id="117" name="Image 24" descr="preencoded.png"/>
          <p:cNvPicPr>
            <a:picLocks noChangeAspect="1"/>
          </p:cNvPicPr>
          <p:nvPr/>
        </p:nvPicPr>
        <p:blipFill>
          <a:blip r:embed="rId20">
            <a:alphaModFix amt="80000"/>
          </a:blip>
          <a:srcRect/>
          <a:stretch/>
        </p:blipFill>
        <p:spPr>
          <a:xfrm>
            <a:off x="8524037" y="5438851"/>
            <a:ext cx="114300" cy="114300"/>
          </a:xfrm>
          <a:prstGeom prst="rect">
            <a:avLst/>
          </a:prstGeom>
        </p:spPr>
      </p:pic>
      <p:sp>
        <p:nvSpPr>
          <p:cNvPr id="118" name="Text 91"/>
          <p:cNvSpPr txBox="1"/>
          <p:nvPr/>
        </p:nvSpPr>
        <p:spPr>
          <a:xfrm>
            <a:off x="8714232" y="5419649"/>
            <a:ext cx="1239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Bundles</a:t>
            </a:r>
            <a:endParaRPr lang="en-US" sz="900" dirty="0"/>
          </a:p>
        </p:txBody>
      </p:sp>
      <p:pic>
        <p:nvPicPr>
          <p:cNvPr id="119" name="Image 25" descr="preencoded.png"/>
          <p:cNvPicPr>
            <a:picLocks noChangeAspect="1"/>
          </p:cNvPicPr>
          <p:nvPr/>
        </p:nvPicPr>
        <p:blipFill>
          <a:blip r:embed="rId20">
            <a:alphaModFix amt="80000"/>
          </a:blip>
          <a:srcRect/>
          <a:stretch/>
        </p:blipFill>
        <p:spPr>
          <a:xfrm>
            <a:off x="8524037" y="5667451"/>
            <a:ext cx="114300" cy="114300"/>
          </a:xfrm>
          <a:prstGeom prst="rect">
            <a:avLst/>
          </a:prstGeom>
        </p:spPr>
      </p:pic>
      <p:sp>
        <p:nvSpPr>
          <p:cNvPr id="120" name="Text 92"/>
          <p:cNvSpPr txBox="1"/>
          <p:nvPr/>
        </p:nvSpPr>
        <p:spPr>
          <a:xfrm>
            <a:off x="8714232" y="5648249"/>
            <a:ext cx="1010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CTV App Launch</a:t>
            </a:r>
            <a:endParaRPr lang="en-US" sz="900" dirty="0"/>
          </a:p>
        </p:txBody>
      </p:sp>
      <p:sp>
        <p:nvSpPr>
          <p:cNvPr id="122" name="Text 94"/>
          <p:cNvSpPr txBox="1"/>
          <p:nvPr/>
        </p:nvSpPr>
        <p:spPr>
          <a:xfrm>
            <a:off x="11282782" y="6558077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132" name="Picture 131">
            <a:extLst>
              <a:ext uri="{FF2B5EF4-FFF2-40B4-BE49-F238E27FC236}">
                <a16:creationId xmlns:a16="http://schemas.microsoft.com/office/drawing/2014/main" id="{73D59011-9813-6FD2-1C51-2BE04F11214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479302" y="6362"/>
            <a:ext cx="598093" cy="5980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209398"/>
            <a:ext cx="972007" cy="3429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329" b="330"/>
          <a:stretch/>
        </p:blipFill>
        <p:spPr>
          <a:xfrm>
            <a:off x="514807" y="267005"/>
            <a:ext cx="857707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8274" y="237744"/>
            <a:ext cx="26956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GTM Strategy &amp; Risks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69003" y="342901"/>
            <a:ext cx="339745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 dirty="0">
                <a:solidFill>
                  <a:srgbClr val="00B0F0"/>
                </a:solidFill>
              </a:rPr>
              <a:t>GTM Strategy &amp; Risk Mitigation</a:t>
            </a:r>
            <a:endParaRPr lang="en-US" sz="1300" dirty="0">
              <a:solidFill>
                <a:srgbClr val="00B0F0"/>
              </a:solidFill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678924" y="295351"/>
            <a:ext cx="21579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AFFINITY GLOBAL CASE STUDY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4495" y="1104595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09905" y="1067105"/>
            <a:ext cx="29151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Plan (30-60-90 Days)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9107" y="1561795"/>
            <a:ext cx="38405" cy="565830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0"/>
          <p:cNvSpPr/>
          <p:nvPr/>
        </p:nvSpPr>
        <p:spPr>
          <a:xfrm>
            <a:off x="5309006" y="1067105"/>
            <a:ext cx="6581851" cy="4362602"/>
          </a:xfrm>
          <a:prstGeom prst="roundRect">
            <a:avLst>
              <a:gd name="adj" fmla="val 36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08346" y="1314907"/>
            <a:ext cx="171907" cy="1719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756148" y="1266444"/>
            <a:ext cx="238658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&amp; Mitigation Strategy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508346" y="1686154"/>
            <a:ext cx="3019349" cy="1695298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508346" y="1686154"/>
            <a:ext cx="38405" cy="169529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641848" y="1781251"/>
            <a:ext cx="1848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 CONTENT COSTS SPIRAL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641848" y="1971446"/>
            <a:ext cx="23244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acquisition cost for premium shows.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641848" y="2200046"/>
            <a:ext cx="2790749" cy="857707"/>
          </a:xfrm>
          <a:prstGeom prst="roundRect">
            <a:avLst>
              <a:gd name="adj" fmla="val 473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727802" y="2305202"/>
            <a:ext cx="1143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 Mitigation: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727802" y="2533802"/>
            <a:ext cx="26197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Performance-based payouts, cap licensing spend, pilot before scale.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673998" y="1686154"/>
            <a:ext cx="3019349" cy="1695298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673998" y="1686154"/>
            <a:ext cx="38405" cy="169529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807501" y="1781251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 USER PERCEPTION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8807501" y="1971446"/>
            <a:ext cx="18388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"Flipkart is just a shopping app."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8807501" y="2200046"/>
            <a:ext cx="2790749" cy="1086307"/>
          </a:xfrm>
          <a:prstGeom prst="roundRect">
            <a:avLst>
              <a:gd name="adj" fmla="val 2954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893454" y="2305202"/>
            <a:ext cx="1143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 Mitigation: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8893454" y="2533802"/>
            <a:ext cx="19431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Marquee celebrity hosts, gamification, social proof integration.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5508346" y="3534156"/>
            <a:ext cx="3019349" cy="1695298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5508346" y="3534156"/>
            <a:ext cx="38405" cy="169529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5641848" y="3629254"/>
            <a:ext cx="1276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 TECH SCALING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5641848" y="3819449"/>
            <a:ext cx="2039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storage + CDN costs for video.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5641848" y="4048049"/>
            <a:ext cx="2790749" cy="1086307"/>
          </a:xfrm>
          <a:prstGeom prst="roundRect">
            <a:avLst>
              <a:gd name="adj" fmla="val 2954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5727802" y="4153205"/>
            <a:ext cx="1143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 Mitigation: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5727802" y="4381805"/>
            <a:ext cx="25722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Aggressive compression (ABR), prefetch on Wi-Fi only, negotiated CDN tiers.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8673998" y="3534156"/>
            <a:ext cx="3019349" cy="1695298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8673998" y="3534156"/>
            <a:ext cx="38405" cy="169529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8807501" y="3629254"/>
            <a:ext cx="12390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RISK: ROI PRESSURE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8807501" y="3819449"/>
            <a:ext cx="18388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Justifying spend if GMV lift lags.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8807501" y="4048049"/>
            <a:ext cx="2790749" cy="857707"/>
          </a:xfrm>
          <a:prstGeom prst="roundRect">
            <a:avLst>
              <a:gd name="adj" fmla="val 4738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8893454" y="4153205"/>
            <a:ext cx="1143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 Mitigation: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8893454" y="4381805"/>
            <a:ext cx="24670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Closed-loop attribution, rigorous holdout tests, ad revenue offset.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5309006" y="5656478"/>
            <a:ext cx="2214677" cy="1088138"/>
          </a:xfrm>
          <a:prstGeom prst="roundRect">
            <a:avLst>
              <a:gd name="adj" fmla="val 1504"/>
            </a:avLst>
          </a:prstGeom>
          <a:solidFill>
            <a:srgbClr val="1F2937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6" name="Text 41"/>
          <p:cNvSpPr txBox="1"/>
          <p:nvPr/>
        </p:nvSpPr>
        <p:spPr>
          <a:xfrm>
            <a:off x="5460797" y="5820156"/>
            <a:ext cx="14054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FEASIBILITY SCORE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5460797" y="6152998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Commerce-First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6729070" y="6115507"/>
            <a:ext cx="571500" cy="228600"/>
          </a:xfrm>
          <a:prstGeom prst="roundRect">
            <a:avLst>
              <a:gd name="adj" fmla="val 333333"/>
            </a:avLst>
          </a:prstGeom>
          <a:solidFill>
            <a:srgbClr val="1F2937"/>
          </a:solidFill>
          <a:ln/>
        </p:spPr>
      </p:sp>
      <p:sp>
        <p:nvSpPr>
          <p:cNvPr id="49" name="Shape 44"/>
          <p:cNvSpPr/>
          <p:nvPr/>
        </p:nvSpPr>
        <p:spPr>
          <a:xfrm>
            <a:off x="6785762" y="6172200"/>
            <a:ext cx="114300" cy="114300"/>
          </a:xfrm>
          <a:prstGeom prst="ellipse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50" name="Shape 45"/>
          <p:cNvSpPr/>
          <p:nvPr/>
        </p:nvSpPr>
        <p:spPr>
          <a:xfrm>
            <a:off x="6957670" y="6172200"/>
            <a:ext cx="114300" cy="11430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51" name="Shape 46"/>
          <p:cNvSpPr/>
          <p:nvPr/>
        </p:nvSpPr>
        <p:spPr>
          <a:xfrm>
            <a:off x="7128662" y="6172200"/>
            <a:ext cx="114300" cy="114300"/>
          </a:xfrm>
          <a:prstGeom prst="ellipse">
            <a:avLst/>
          </a:prstGeom>
          <a:solidFill>
            <a:srgbClr val="10B981"/>
          </a:solidFill>
          <a:ln/>
          <a:effectLst>
            <a:outerShdw blurRad="76200" dist="12700" dir="16200000" algn="bl" rotWithShape="0">
              <a:srgbClr val="22C55E">
                <a:alpha val="100000"/>
              </a:srgbClr>
            </a:outerShdw>
          </a:effectLst>
        </p:spPr>
      </p:sp>
      <p:sp>
        <p:nvSpPr>
          <p:cNvPr id="52" name="Text 47"/>
          <p:cNvSpPr txBox="1"/>
          <p:nvPr/>
        </p:nvSpPr>
        <p:spPr>
          <a:xfrm>
            <a:off x="5460797" y="6495898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Netflix-Style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6729070" y="6458407"/>
            <a:ext cx="571500" cy="228600"/>
          </a:xfrm>
          <a:prstGeom prst="roundRect">
            <a:avLst>
              <a:gd name="adj" fmla="val 333333"/>
            </a:avLst>
          </a:prstGeom>
          <a:solidFill>
            <a:srgbClr val="1F2937"/>
          </a:solidFill>
          <a:ln/>
        </p:spPr>
      </p:sp>
      <p:sp>
        <p:nvSpPr>
          <p:cNvPr id="54" name="Shape 49"/>
          <p:cNvSpPr/>
          <p:nvPr/>
        </p:nvSpPr>
        <p:spPr>
          <a:xfrm>
            <a:off x="6785762" y="6515100"/>
            <a:ext cx="114300" cy="114300"/>
          </a:xfrm>
          <a:prstGeom prst="ellipse">
            <a:avLst/>
          </a:prstGeom>
          <a:solidFill>
            <a:srgbClr val="EF4444"/>
          </a:solidFill>
          <a:ln/>
          <a:effectLst>
            <a:outerShdw blurRad="76200" dist="12700" dir="16200000" algn="bl" rotWithShape="0">
              <a:srgbClr val="EF4444">
                <a:alpha val="100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6957670" y="6515100"/>
            <a:ext cx="114300" cy="11430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56" name="Shape 51"/>
          <p:cNvSpPr/>
          <p:nvPr/>
        </p:nvSpPr>
        <p:spPr>
          <a:xfrm>
            <a:off x="7128662" y="6515100"/>
            <a:ext cx="114300" cy="114300"/>
          </a:xfrm>
          <a:prstGeom prst="ellipse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58" name="Text 53"/>
          <p:cNvSpPr txBox="1"/>
          <p:nvPr/>
        </p:nvSpPr>
        <p:spPr>
          <a:xfrm>
            <a:off x="5460797" y="7610551"/>
            <a:ext cx="172455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pic>
        <p:nvPicPr>
          <p:cNvPr id="59" name="Image 3" descr="preencoded.png"/>
          <p:cNvPicPr>
            <a:picLocks noChangeAspect="1"/>
          </p:cNvPicPr>
          <p:nvPr/>
        </p:nvPicPr>
        <p:blipFill>
          <a:blip r:embed="rId6">
            <a:alphaModFix amt="10000"/>
          </a:blip>
          <a:srcRect/>
          <a:stretch/>
        </p:blipFill>
        <p:spPr>
          <a:xfrm>
            <a:off x="11315700" y="5658307"/>
            <a:ext cx="571500" cy="571500"/>
          </a:xfrm>
          <a:prstGeom prst="rect">
            <a:avLst/>
          </a:prstGeom>
        </p:spPr>
      </p:pic>
      <p:sp>
        <p:nvSpPr>
          <p:cNvPr id="60" name="Shape 54"/>
          <p:cNvSpPr/>
          <p:nvPr/>
        </p:nvSpPr>
        <p:spPr>
          <a:xfrm>
            <a:off x="7766455" y="5778718"/>
            <a:ext cx="3905402" cy="914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7766455" y="5578008"/>
            <a:ext cx="18534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Inter" pitchFamily="34" charset="0"/>
                <a:ea typeface="Inter" pitchFamily="34" charset="-122"/>
                <a:cs typeface="Inter" pitchFamily="34" charset="-120"/>
              </a:rPr>
              <a:t>YEAR 1 EXPECTED IMPACT</a:t>
            </a:r>
            <a:endParaRPr lang="en-US" sz="1000" dirty="0"/>
          </a:p>
        </p:txBody>
      </p:sp>
      <p:sp>
        <p:nvSpPr>
          <p:cNvPr id="63" name="Text 57"/>
          <p:cNvSpPr txBox="1"/>
          <p:nvPr/>
        </p:nvSpPr>
        <p:spPr>
          <a:xfrm>
            <a:off x="7680960" y="5924397"/>
            <a:ext cx="960457" cy="20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CD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₹1000 Cr</a:t>
            </a:r>
            <a:endParaRPr lang="en-US" sz="1800" dirty="0"/>
          </a:p>
        </p:txBody>
      </p:sp>
      <p:sp>
        <p:nvSpPr>
          <p:cNvPr id="64" name="Text 58"/>
          <p:cNvSpPr txBox="1"/>
          <p:nvPr/>
        </p:nvSpPr>
        <p:spPr>
          <a:xfrm>
            <a:off x="7655908" y="6239407"/>
            <a:ext cx="1151594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Inter" pitchFamily="34" charset="0"/>
                <a:ea typeface="Inter" pitchFamily="34" charset="-122"/>
                <a:cs typeface="Inter" pitchFamily="34" charset="-120"/>
              </a:rPr>
              <a:t>PROJECTED GMV</a:t>
            </a:r>
            <a:endParaRPr lang="en-US" sz="1200" dirty="0"/>
          </a:p>
        </p:txBody>
      </p:sp>
      <p:sp>
        <p:nvSpPr>
          <p:cNvPr id="66" name="Text 60"/>
          <p:cNvSpPr txBox="1"/>
          <p:nvPr/>
        </p:nvSpPr>
        <p:spPr>
          <a:xfrm>
            <a:off x="10361981" y="6409944"/>
            <a:ext cx="952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100M+</a:t>
            </a:r>
            <a:endParaRPr lang="en-US" sz="1800" dirty="0"/>
          </a:p>
        </p:txBody>
      </p:sp>
      <p:sp>
        <p:nvSpPr>
          <p:cNvPr id="67" name="Text 61"/>
          <p:cNvSpPr txBox="1"/>
          <p:nvPr/>
        </p:nvSpPr>
        <p:spPr>
          <a:xfrm>
            <a:off x="9974853" y="6190945"/>
            <a:ext cx="1495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9" name="Text 63"/>
          <p:cNvSpPr txBox="1"/>
          <p:nvPr/>
        </p:nvSpPr>
        <p:spPr>
          <a:xfrm>
            <a:off x="8915159" y="5896051"/>
            <a:ext cx="10671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₹250 Cr</a:t>
            </a:r>
            <a:endParaRPr lang="en-US" sz="1800" dirty="0">
              <a:solidFill>
                <a:srgbClr val="FFC000"/>
              </a:solidFill>
            </a:endParaRPr>
          </a:p>
        </p:txBody>
      </p:sp>
      <p:sp>
        <p:nvSpPr>
          <p:cNvPr id="70" name="Text 64"/>
          <p:cNvSpPr txBox="1"/>
          <p:nvPr/>
        </p:nvSpPr>
        <p:spPr>
          <a:xfrm>
            <a:off x="8838590" y="6158465"/>
            <a:ext cx="1162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Inter" pitchFamily="34" charset="0"/>
                <a:ea typeface="Inter" pitchFamily="34" charset="-122"/>
                <a:cs typeface="Inter" pitchFamily="34" charset="-120"/>
              </a:rPr>
              <a:t>AD REVENUE</a:t>
            </a:r>
            <a:endParaRPr lang="en-US" sz="1200" dirty="0"/>
          </a:p>
        </p:txBody>
      </p:sp>
      <p:sp>
        <p:nvSpPr>
          <p:cNvPr id="72" name="Text 66"/>
          <p:cNvSpPr txBox="1"/>
          <p:nvPr/>
        </p:nvSpPr>
        <p:spPr>
          <a:xfrm>
            <a:off x="10284257" y="5888327"/>
            <a:ext cx="8193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+10%</a:t>
            </a:r>
            <a:endParaRPr lang="en-US" sz="1800" dirty="0"/>
          </a:p>
        </p:txBody>
      </p:sp>
      <p:sp>
        <p:nvSpPr>
          <p:cNvPr id="73" name="Text 67"/>
          <p:cNvSpPr txBox="1"/>
          <p:nvPr/>
        </p:nvSpPr>
        <p:spPr>
          <a:xfrm>
            <a:off x="10236820" y="6157137"/>
            <a:ext cx="1086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Inter" pitchFamily="34" charset="0"/>
                <a:ea typeface="Inter" pitchFamily="34" charset="-122"/>
                <a:cs typeface="Inter" pitchFamily="34" charset="-120"/>
              </a:rPr>
              <a:t>DAU UPLIFT</a:t>
            </a:r>
            <a:endParaRPr lang="en-US" sz="1200" dirty="0"/>
          </a:p>
        </p:txBody>
      </p:sp>
      <p:sp>
        <p:nvSpPr>
          <p:cNvPr id="74" name="Text 68"/>
          <p:cNvSpPr txBox="1"/>
          <p:nvPr/>
        </p:nvSpPr>
        <p:spPr>
          <a:xfrm>
            <a:off x="457200" y="6558077"/>
            <a:ext cx="2153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5" name="Text 69"/>
          <p:cNvSpPr txBox="1"/>
          <p:nvPr/>
        </p:nvSpPr>
        <p:spPr>
          <a:xfrm>
            <a:off x="11289182" y="6558077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76" name="Shape 70"/>
          <p:cNvSpPr/>
          <p:nvPr/>
        </p:nvSpPr>
        <p:spPr>
          <a:xfrm>
            <a:off x="495605" y="1561795"/>
            <a:ext cx="304495" cy="304495"/>
          </a:xfrm>
          <a:prstGeom prst="ellipse">
            <a:avLst/>
          </a:prstGeom>
          <a:solidFill>
            <a:srgbClr val="3B82F6"/>
          </a:solidFill>
          <a:ln/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</p:sp>
      <p:sp>
        <p:nvSpPr>
          <p:cNvPr id="77" name="Text 71"/>
          <p:cNvSpPr txBox="1"/>
          <p:nvPr/>
        </p:nvSpPr>
        <p:spPr>
          <a:xfrm>
            <a:off x="535838" y="1628546"/>
            <a:ext cx="314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30d</a:t>
            </a:r>
            <a:endParaRPr lang="en-US" sz="900" dirty="0"/>
          </a:p>
        </p:txBody>
      </p:sp>
      <p:sp>
        <p:nvSpPr>
          <p:cNvPr id="78" name="Shape 72"/>
          <p:cNvSpPr/>
          <p:nvPr/>
        </p:nvSpPr>
        <p:spPr>
          <a:xfrm>
            <a:off x="952805" y="1561795"/>
            <a:ext cx="4058107" cy="1733702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79" name="Text 73"/>
          <p:cNvSpPr txBox="1"/>
          <p:nvPr/>
        </p:nvSpPr>
        <p:spPr>
          <a:xfrm>
            <a:off x="1076249" y="1733702"/>
            <a:ext cx="19293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1: Soft Launch &amp; Seed</a:t>
            </a:r>
            <a:endParaRPr lang="en-US" sz="1000" dirty="0"/>
          </a:p>
        </p:txBody>
      </p:sp>
      <p:sp>
        <p:nvSpPr>
          <p:cNvPr id="80" name="Shape 74"/>
          <p:cNvSpPr/>
          <p:nvPr/>
        </p:nvSpPr>
        <p:spPr>
          <a:xfrm>
            <a:off x="3849624" y="1686154"/>
            <a:ext cx="1037844" cy="267005"/>
          </a:xfrm>
          <a:prstGeom prst="roundRect">
            <a:avLst>
              <a:gd name="adj" fmla="val 342465"/>
            </a:avLst>
          </a:prstGeom>
          <a:solidFill>
            <a:srgbClr val="DBEAFE"/>
          </a:solidFill>
          <a:ln/>
        </p:spPr>
      </p:sp>
      <p:sp>
        <p:nvSpPr>
          <p:cNvPr id="81" name="Text 75"/>
          <p:cNvSpPr txBox="1"/>
          <p:nvPr/>
        </p:nvSpPr>
        <p:spPr>
          <a:xfrm>
            <a:off x="3925519" y="1723644"/>
            <a:ext cx="1000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Rollout</a:t>
            </a:r>
            <a:endParaRPr lang="en-US" sz="1200" dirty="0"/>
          </a:p>
        </p:txBody>
      </p:sp>
      <p:sp>
        <p:nvSpPr>
          <p:cNvPr id="82" name="Shape 76"/>
          <p:cNvSpPr/>
          <p:nvPr/>
        </p:nvSpPr>
        <p:spPr>
          <a:xfrm>
            <a:off x="1076249" y="2029054"/>
            <a:ext cx="1867205" cy="533095"/>
          </a:xfrm>
          <a:prstGeom prst="roundRect">
            <a:avLst>
              <a:gd name="adj" fmla="val 12252"/>
            </a:avLst>
          </a:prstGeom>
          <a:solidFill>
            <a:srgbClr val="F9FAFB"/>
          </a:solidFill>
          <a:ln/>
        </p:spPr>
      </p:sp>
      <p:sp>
        <p:nvSpPr>
          <p:cNvPr id="83" name="Text 77"/>
          <p:cNvSpPr txBox="1"/>
          <p:nvPr/>
        </p:nvSpPr>
        <p:spPr>
          <a:xfrm>
            <a:off x="1152144" y="2124151"/>
            <a:ext cx="715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</a:t>
            </a:r>
            <a:endParaRPr lang="en-US" sz="1200" dirty="0"/>
          </a:p>
        </p:txBody>
      </p:sp>
      <p:sp>
        <p:nvSpPr>
          <p:cNvPr id="84" name="Text 78"/>
          <p:cNvSpPr txBox="1"/>
          <p:nvPr/>
        </p:nvSpPr>
        <p:spPr>
          <a:xfrm>
            <a:off x="1152144" y="2333549"/>
            <a:ext cx="1743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 Creators, 200 hrs content</a:t>
            </a:r>
            <a:endParaRPr lang="en-US" sz="900" dirty="0"/>
          </a:p>
        </p:txBody>
      </p:sp>
      <p:sp>
        <p:nvSpPr>
          <p:cNvPr id="85" name="Shape 79"/>
          <p:cNvSpPr/>
          <p:nvPr/>
        </p:nvSpPr>
        <p:spPr>
          <a:xfrm>
            <a:off x="3016606" y="2029054"/>
            <a:ext cx="1867205" cy="533095"/>
          </a:xfrm>
          <a:prstGeom prst="roundRect">
            <a:avLst>
              <a:gd name="adj" fmla="val 12252"/>
            </a:avLst>
          </a:prstGeom>
          <a:solidFill>
            <a:srgbClr val="F9FAFB"/>
          </a:solidFill>
          <a:ln/>
        </p:spPr>
      </p:sp>
      <p:sp>
        <p:nvSpPr>
          <p:cNvPr id="86" name="Text 80"/>
          <p:cNvSpPr txBox="1"/>
          <p:nvPr/>
        </p:nvSpPr>
        <p:spPr>
          <a:xfrm>
            <a:off x="3092501" y="2124151"/>
            <a:ext cx="914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1200" dirty="0"/>
          </a:p>
        </p:txBody>
      </p:sp>
      <p:sp>
        <p:nvSpPr>
          <p:cNvPr id="87" name="Text 81"/>
          <p:cNvSpPr txBox="1"/>
          <p:nvPr/>
        </p:nvSpPr>
        <p:spPr>
          <a:xfrm>
            <a:off x="3092501" y="2333549"/>
            <a:ext cx="10579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1M+ Views Target</a:t>
            </a:r>
            <a:endParaRPr lang="en-US" sz="900" dirty="0"/>
          </a:p>
        </p:txBody>
      </p:sp>
      <p:sp>
        <p:nvSpPr>
          <p:cNvPr id="88" name="Text 82"/>
          <p:cNvSpPr txBox="1"/>
          <p:nvPr/>
        </p:nvSpPr>
        <p:spPr>
          <a:xfrm>
            <a:off x="1228954" y="2638044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Homepage entry point live</a:t>
            </a:r>
            <a:endParaRPr lang="en-US" sz="900" dirty="0"/>
          </a:p>
        </p:txBody>
      </p:sp>
      <p:sp>
        <p:nvSpPr>
          <p:cNvPr id="89" name="Text 83"/>
          <p:cNvSpPr txBox="1"/>
          <p:nvPr/>
        </p:nvSpPr>
        <p:spPr>
          <a:xfrm>
            <a:off x="1228954" y="2829154"/>
            <a:ext cx="22384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"Watch &amp; Win" SuperCoins gamification</a:t>
            </a:r>
            <a:endParaRPr lang="en-US" sz="900" dirty="0"/>
          </a:p>
        </p:txBody>
      </p:sp>
      <p:sp>
        <p:nvSpPr>
          <p:cNvPr id="90" name="Text 84"/>
          <p:cNvSpPr txBox="1"/>
          <p:nvPr/>
        </p:nvSpPr>
        <p:spPr>
          <a:xfrm>
            <a:off x="1228954" y="3019349"/>
            <a:ext cx="1800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Flipkart Plus exclusive previews</a:t>
            </a:r>
            <a:endParaRPr lang="en-US" sz="900" dirty="0"/>
          </a:p>
        </p:txBody>
      </p:sp>
      <p:sp>
        <p:nvSpPr>
          <p:cNvPr id="91" name="Shape 85"/>
          <p:cNvSpPr/>
          <p:nvPr/>
        </p:nvSpPr>
        <p:spPr>
          <a:xfrm>
            <a:off x="495605" y="3448202"/>
            <a:ext cx="304495" cy="304495"/>
          </a:xfrm>
          <a:prstGeom prst="ellipse">
            <a:avLst/>
          </a:prstGeom>
          <a:solidFill>
            <a:srgbClr val="F59E0B"/>
          </a:solidFill>
          <a:ln/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</p:sp>
      <p:sp>
        <p:nvSpPr>
          <p:cNvPr id="92" name="Text 86"/>
          <p:cNvSpPr txBox="1"/>
          <p:nvPr/>
        </p:nvSpPr>
        <p:spPr>
          <a:xfrm>
            <a:off x="535838" y="3514954"/>
            <a:ext cx="314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60d</a:t>
            </a:r>
            <a:endParaRPr lang="en-US" sz="900" dirty="0"/>
          </a:p>
        </p:txBody>
      </p:sp>
      <p:sp>
        <p:nvSpPr>
          <p:cNvPr id="93" name="Shape 87"/>
          <p:cNvSpPr/>
          <p:nvPr/>
        </p:nvSpPr>
        <p:spPr>
          <a:xfrm>
            <a:off x="952805" y="3448202"/>
            <a:ext cx="4058107" cy="1733702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94" name="Text 88"/>
          <p:cNvSpPr txBox="1"/>
          <p:nvPr/>
        </p:nvSpPr>
        <p:spPr>
          <a:xfrm>
            <a:off x="1076249" y="3619195"/>
            <a:ext cx="19293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2: Commerce Scaling</a:t>
            </a:r>
            <a:endParaRPr lang="en-US" sz="1000" dirty="0"/>
          </a:p>
        </p:txBody>
      </p:sp>
      <p:sp>
        <p:nvSpPr>
          <p:cNvPr id="95" name="Shape 89"/>
          <p:cNvSpPr/>
          <p:nvPr/>
        </p:nvSpPr>
        <p:spPr>
          <a:xfrm>
            <a:off x="3820363" y="3571646"/>
            <a:ext cx="1067105" cy="267005"/>
          </a:xfrm>
          <a:prstGeom prst="roundRect">
            <a:avLst>
              <a:gd name="adj" fmla="val 342465"/>
            </a:avLst>
          </a:prstGeom>
          <a:solidFill>
            <a:srgbClr val="FEF3C7"/>
          </a:solidFill>
          <a:ln/>
        </p:spPr>
      </p:sp>
      <p:sp>
        <p:nvSpPr>
          <p:cNvPr id="96" name="Text 90"/>
          <p:cNvSpPr txBox="1"/>
          <p:nvPr/>
        </p:nvSpPr>
        <p:spPr>
          <a:xfrm>
            <a:off x="3897173" y="3610051"/>
            <a:ext cx="1028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 Rollout</a:t>
            </a:r>
            <a:endParaRPr lang="en-US" sz="1200" dirty="0"/>
          </a:p>
        </p:txBody>
      </p:sp>
      <p:sp>
        <p:nvSpPr>
          <p:cNvPr id="97" name="Shape 91"/>
          <p:cNvSpPr/>
          <p:nvPr/>
        </p:nvSpPr>
        <p:spPr>
          <a:xfrm>
            <a:off x="1076249" y="3914546"/>
            <a:ext cx="1867205" cy="533095"/>
          </a:xfrm>
          <a:prstGeom prst="roundRect">
            <a:avLst>
              <a:gd name="adj" fmla="val 12252"/>
            </a:avLst>
          </a:prstGeom>
          <a:solidFill>
            <a:srgbClr val="F9FAFB"/>
          </a:solidFill>
          <a:ln/>
        </p:spPr>
      </p:sp>
      <p:sp>
        <p:nvSpPr>
          <p:cNvPr id="98" name="Text 92"/>
          <p:cNvSpPr txBox="1"/>
          <p:nvPr/>
        </p:nvSpPr>
        <p:spPr>
          <a:xfrm>
            <a:off x="1152144" y="4009644"/>
            <a:ext cx="876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</a:t>
            </a:r>
            <a:endParaRPr lang="en-US" sz="1200" dirty="0"/>
          </a:p>
        </p:txBody>
      </p:sp>
      <p:sp>
        <p:nvSpPr>
          <p:cNvPr id="99" name="Text 93"/>
          <p:cNvSpPr txBox="1"/>
          <p:nvPr/>
        </p:nvSpPr>
        <p:spPr>
          <a:xfrm>
            <a:off x="1152144" y="4219956"/>
            <a:ext cx="1571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Shows, 4 Live Events/Wk</a:t>
            </a:r>
            <a:endParaRPr lang="en-US" sz="900" dirty="0"/>
          </a:p>
        </p:txBody>
      </p:sp>
      <p:sp>
        <p:nvSpPr>
          <p:cNvPr id="100" name="Shape 94"/>
          <p:cNvSpPr/>
          <p:nvPr/>
        </p:nvSpPr>
        <p:spPr>
          <a:xfrm>
            <a:off x="3016606" y="3914546"/>
            <a:ext cx="1867205" cy="533095"/>
          </a:xfrm>
          <a:prstGeom prst="roundRect">
            <a:avLst>
              <a:gd name="adj" fmla="val 12252"/>
            </a:avLst>
          </a:prstGeom>
          <a:solidFill>
            <a:srgbClr val="F9FAFB"/>
          </a:solidFill>
          <a:ln/>
        </p:spPr>
      </p:sp>
      <p:sp>
        <p:nvSpPr>
          <p:cNvPr id="101" name="Text 95"/>
          <p:cNvSpPr txBox="1"/>
          <p:nvPr/>
        </p:nvSpPr>
        <p:spPr>
          <a:xfrm>
            <a:off x="3092501" y="4009644"/>
            <a:ext cx="838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200" dirty="0"/>
          </a:p>
        </p:txBody>
      </p:sp>
      <p:sp>
        <p:nvSpPr>
          <p:cNvPr id="102" name="Text 96"/>
          <p:cNvSpPr txBox="1"/>
          <p:nvPr/>
        </p:nvSpPr>
        <p:spPr>
          <a:xfrm>
            <a:off x="3092501" y="4219956"/>
            <a:ext cx="11338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₹50 Cr GMV Target</a:t>
            </a:r>
            <a:endParaRPr lang="en-US" sz="900" dirty="0"/>
          </a:p>
        </p:txBody>
      </p:sp>
      <p:sp>
        <p:nvSpPr>
          <p:cNvPr id="103" name="Text 97"/>
          <p:cNvSpPr txBox="1"/>
          <p:nvPr/>
        </p:nvSpPr>
        <p:spPr>
          <a:xfrm>
            <a:off x="1228954" y="4524451"/>
            <a:ext cx="23152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Telco partnerships (Jio/Airtel data packs)</a:t>
            </a:r>
            <a:endParaRPr lang="en-US" sz="900" dirty="0"/>
          </a:p>
        </p:txBody>
      </p:sp>
      <p:sp>
        <p:nvSpPr>
          <p:cNvPr id="104" name="Text 98"/>
          <p:cNvSpPr txBox="1"/>
          <p:nvPr/>
        </p:nvSpPr>
        <p:spPr>
          <a:xfrm>
            <a:off x="1228954" y="4714646"/>
            <a:ext cx="1800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referral program launch</a:t>
            </a:r>
            <a:endParaRPr lang="en-US" sz="900" dirty="0"/>
          </a:p>
        </p:txBody>
      </p:sp>
      <p:sp>
        <p:nvSpPr>
          <p:cNvPr id="105" name="Text 99"/>
          <p:cNvSpPr txBox="1"/>
          <p:nvPr/>
        </p:nvSpPr>
        <p:spPr>
          <a:xfrm>
            <a:off x="1228954" y="4905756"/>
            <a:ext cx="1962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major brand sponsorship deal</a:t>
            </a:r>
            <a:endParaRPr lang="en-US" sz="900" dirty="0"/>
          </a:p>
        </p:txBody>
      </p:sp>
      <p:sp>
        <p:nvSpPr>
          <p:cNvPr id="106" name="Shape 100"/>
          <p:cNvSpPr/>
          <p:nvPr/>
        </p:nvSpPr>
        <p:spPr>
          <a:xfrm>
            <a:off x="495605" y="5333695"/>
            <a:ext cx="304495" cy="304495"/>
          </a:xfrm>
          <a:prstGeom prst="ellipse">
            <a:avLst/>
          </a:prstGeom>
          <a:solidFill>
            <a:srgbClr val="10B981"/>
          </a:solidFill>
          <a:ln/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</p:sp>
      <p:sp>
        <p:nvSpPr>
          <p:cNvPr id="107" name="Text 101"/>
          <p:cNvSpPr txBox="1"/>
          <p:nvPr/>
        </p:nvSpPr>
        <p:spPr>
          <a:xfrm>
            <a:off x="535838" y="5400446"/>
            <a:ext cx="314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90d</a:t>
            </a:r>
            <a:endParaRPr lang="en-US" sz="900" dirty="0"/>
          </a:p>
        </p:txBody>
      </p:sp>
      <p:sp>
        <p:nvSpPr>
          <p:cNvPr id="108" name="Shape 102"/>
          <p:cNvSpPr/>
          <p:nvPr/>
        </p:nvSpPr>
        <p:spPr>
          <a:xfrm>
            <a:off x="930859" y="5285009"/>
            <a:ext cx="4091025" cy="1459607"/>
          </a:xfrm>
          <a:prstGeom prst="roundRect">
            <a:avLst>
              <a:gd name="adj" fmla="val 23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9" name="Text 103"/>
          <p:cNvSpPr txBox="1"/>
          <p:nvPr/>
        </p:nvSpPr>
        <p:spPr>
          <a:xfrm>
            <a:off x="1131112" y="5419389"/>
            <a:ext cx="17574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3: Mass Expansion</a:t>
            </a:r>
            <a:endParaRPr lang="en-US" sz="1000" dirty="0"/>
          </a:p>
        </p:txBody>
      </p:sp>
      <p:sp>
        <p:nvSpPr>
          <p:cNvPr id="110" name="Shape 104"/>
          <p:cNvSpPr/>
          <p:nvPr/>
        </p:nvSpPr>
        <p:spPr>
          <a:xfrm>
            <a:off x="3747211" y="5458054"/>
            <a:ext cx="1133856" cy="2670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/>
        </p:spPr>
      </p:sp>
      <p:sp>
        <p:nvSpPr>
          <p:cNvPr id="111" name="Text 105"/>
          <p:cNvSpPr txBox="1"/>
          <p:nvPr/>
        </p:nvSpPr>
        <p:spPr>
          <a:xfrm>
            <a:off x="3823106" y="5495544"/>
            <a:ext cx="1095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Rollout</a:t>
            </a:r>
            <a:endParaRPr lang="en-US" sz="1200" dirty="0"/>
          </a:p>
        </p:txBody>
      </p:sp>
      <p:sp>
        <p:nvSpPr>
          <p:cNvPr id="112" name="Shape 106"/>
          <p:cNvSpPr/>
          <p:nvPr/>
        </p:nvSpPr>
        <p:spPr>
          <a:xfrm>
            <a:off x="1113591" y="5632295"/>
            <a:ext cx="1867205" cy="533095"/>
          </a:xfrm>
          <a:prstGeom prst="roundRect">
            <a:avLst>
              <a:gd name="adj" fmla="val 12252"/>
            </a:avLst>
          </a:prstGeom>
          <a:solidFill>
            <a:srgbClr val="F9FAFB"/>
          </a:solidFill>
          <a:ln/>
        </p:spPr>
      </p:sp>
      <p:sp>
        <p:nvSpPr>
          <p:cNvPr id="113" name="Text 107"/>
          <p:cNvSpPr txBox="1"/>
          <p:nvPr/>
        </p:nvSpPr>
        <p:spPr>
          <a:xfrm>
            <a:off x="1152144" y="5738774"/>
            <a:ext cx="10863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114" name="Text 108"/>
          <p:cNvSpPr txBox="1"/>
          <p:nvPr/>
        </p:nvSpPr>
        <p:spPr>
          <a:xfrm>
            <a:off x="1152144" y="5982919"/>
            <a:ext cx="1657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500+ Creators, Creator Fund</a:t>
            </a:r>
            <a:endParaRPr lang="en-US" sz="900" dirty="0"/>
          </a:p>
        </p:txBody>
      </p:sp>
      <p:sp>
        <p:nvSpPr>
          <p:cNvPr id="115" name="Shape 109"/>
          <p:cNvSpPr/>
          <p:nvPr/>
        </p:nvSpPr>
        <p:spPr>
          <a:xfrm>
            <a:off x="3016606" y="5800954"/>
            <a:ext cx="1867205" cy="533095"/>
          </a:xfrm>
          <a:prstGeom prst="roundRect">
            <a:avLst>
              <a:gd name="adj" fmla="val 12252"/>
            </a:avLst>
          </a:prstGeom>
          <a:solidFill>
            <a:srgbClr val="F9FAFB"/>
          </a:solidFill>
          <a:ln/>
        </p:spPr>
      </p:sp>
      <p:sp>
        <p:nvSpPr>
          <p:cNvPr id="116" name="Text 110"/>
          <p:cNvSpPr txBox="1"/>
          <p:nvPr/>
        </p:nvSpPr>
        <p:spPr>
          <a:xfrm>
            <a:off x="3092501" y="5896051"/>
            <a:ext cx="838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200" dirty="0"/>
          </a:p>
        </p:txBody>
      </p:sp>
      <p:sp>
        <p:nvSpPr>
          <p:cNvPr id="117" name="Text 111"/>
          <p:cNvSpPr txBox="1"/>
          <p:nvPr/>
        </p:nvSpPr>
        <p:spPr>
          <a:xfrm>
            <a:off x="3092501" y="6105449"/>
            <a:ext cx="15819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₹150-200 Cr GMV Run-rate</a:t>
            </a:r>
            <a:endParaRPr lang="en-US" sz="900" dirty="0"/>
          </a:p>
        </p:txBody>
      </p:sp>
      <p:sp>
        <p:nvSpPr>
          <p:cNvPr id="118" name="Text 112"/>
          <p:cNvSpPr txBox="1"/>
          <p:nvPr/>
        </p:nvSpPr>
        <p:spPr>
          <a:xfrm>
            <a:off x="1107282" y="6249010"/>
            <a:ext cx="1914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15-20 Shoppable shows per week</a:t>
            </a:r>
            <a:endParaRPr lang="en-US" sz="900" dirty="0"/>
          </a:p>
        </p:txBody>
      </p:sp>
      <p:sp>
        <p:nvSpPr>
          <p:cNvPr id="119" name="Text 113"/>
          <p:cNvSpPr txBox="1"/>
          <p:nvPr/>
        </p:nvSpPr>
        <p:spPr>
          <a:xfrm>
            <a:off x="1097737" y="6414516"/>
            <a:ext cx="18864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Self-serve ad platform for brands</a:t>
            </a:r>
            <a:endParaRPr lang="en-US" sz="900" dirty="0"/>
          </a:p>
        </p:txBody>
      </p:sp>
      <p:sp>
        <p:nvSpPr>
          <p:cNvPr id="120" name="Text 114"/>
          <p:cNvSpPr txBox="1"/>
          <p:nvPr/>
        </p:nvSpPr>
        <p:spPr>
          <a:xfrm>
            <a:off x="1079449" y="6588252"/>
            <a:ext cx="1666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language expansion</a:t>
            </a:r>
            <a:endParaRPr lang="en-US" sz="900" dirty="0"/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3D5EA5D8-B469-1757-3E2C-C810ECC557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79302" y="6362"/>
            <a:ext cx="598093" cy="5980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1165</Words>
  <Application>Microsoft Office PowerPoint</Application>
  <PresentationFormat>Widescreen</PresentationFormat>
  <Paragraphs>274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Aditi Mittal</dc:creator>
  <cp:lastModifiedBy>Aditi Mittal</cp:lastModifiedBy>
  <cp:revision>3</cp:revision>
  <dcterms:created xsi:type="dcterms:W3CDTF">2025-11-26T19:04:18Z</dcterms:created>
  <dcterms:modified xsi:type="dcterms:W3CDTF">2025-11-26T19:56:34Z</dcterms:modified>
</cp:coreProperties>
</file>